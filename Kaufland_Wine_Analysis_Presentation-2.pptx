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8895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A101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7B1F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4114800" y="0"/>
            <a:ext cx="54864" cy="6858000"/>
          </a:xfrm>
          <a:prstGeom prst="rect">
            <a:avLst/>
          </a:prstGeom>
          <a:solidFill>
            <a:srgbClr val="C49A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4572000" y="457200"/>
            <a:ext cx="7132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49A22"/>
                </a:solidFill>
                <a:latin typeface="Calibri"/>
                <a:ea typeface="Calibri"/>
                <a:cs typeface="Calibri"/>
                <a:sym typeface="Calibri"/>
              </a:rPr>
              <a:t>KAUFLAND DATA &amp; AI INT.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20040" y="91440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49A22"/>
                </a:solidFill>
                <a:latin typeface="Calibri"/>
                <a:ea typeface="Calibri"/>
                <a:cs typeface="Calibri"/>
                <a:sym typeface="Calibri"/>
              </a:rPr>
              <a:t>RED WINE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320040" y="132588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49A22"/>
                </a:solidFill>
                <a:latin typeface="Calibri"/>
                <a:ea typeface="Calibri"/>
                <a:cs typeface="Calibri"/>
                <a:sym typeface="Calibri"/>
              </a:rPr>
              <a:t>QUALITY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320040" y="173736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49A22"/>
                </a:solidFill>
                <a:latin typeface="Calibri"/>
                <a:ea typeface="Calibri"/>
                <a:cs typeface="Calibri"/>
                <a:sym typeface="Calibri"/>
              </a:rPr>
              <a:t>ANALYSIS</a:t>
            </a:r>
            <a:endParaRPr/>
          </a:p>
        </p:txBody>
      </p:sp>
      <p:sp>
        <p:nvSpPr>
          <p:cNvPr id="91" name="Google Shape;91;p13"/>
          <p:cNvSpPr/>
          <p:nvPr/>
        </p:nvSpPr>
        <p:spPr>
          <a:xfrm>
            <a:off x="457200" y="2331720"/>
            <a:ext cx="3200400" cy="36576"/>
          </a:xfrm>
          <a:prstGeom prst="rect">
            <a:avLst/>
          </a:prstGeom>
          <a:solidFill>
            <a:srgbClr val="C49A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457200" y="2423160"/>
            <a:ext cx="3200400" cy="36576"/>
          </a:xfrm>
          <a:prstGeom prst="rect">
            <a:avLst/>
          </a:prstGeom>
          <a:solidFill>
            <a:srgbClr val="C49A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274320" y="2743200"/>
            <a:ext cx="3566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7F0E6"/>
                </a:solidFill>
                <a:latin typeface="Calibri"/>
                <a:ea typeface="Calibri"/>
                <a:cs typeface="Calibri"/>
                <a:sym typeface="Calibri"/>
              </a:rPr>
              <a:t>Physicochemical Drivers</a:t>
            </a:r>
            <a:br>
              <a:rPr b="0" i="0" lang="en-US" sz="1000" u="none" cap="none" strike="noStrike">
                <a:solidFill>
                  <a:srgbClr val="F7F0E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F7F0E6"/>
                </a:solidFill>
                <a:latin typeface="Calibri"/>
                <a:ea typeface="Calibri"/>
                <a:cs typeface="Calibri"/>
                <a:sym typeface="Calibri"/>
              </a:rPr>
              <a:t>of Outstanding Ratings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320040" y="5943600"/>
            <a:ext cx="3474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49A22"/>
                </a:solidFill>
                <a:latin typeface="Calibri"/>
                <a:ea typeface="Calibri"/>
                <a:cs typeface="Calibri"/>
                <a:sym typeface="Calibri"/>
              </a:rPr>
              <a:t>Abhijeet Malik </a:t>
            </a:r>
            <a:endParaRPr sz="2600"/>
          </a:p>
        </p:txBody>
      </p:sp>
      <p:sp>
        <p:nvSpPr>
          <p:cNvPr id="95" name="Google Shape;95;p13"/>
          <p:cNvSpPr txBox="1"/>
          <p:nvPr/>
        </p:nvSpPr>
        <p:spPr>
          <a:xfrm>
            <a:off x="4572000" y="1371600"/>
            <a:ext cx="7132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F7F0E6"/>
                </a:solidFill>
                <a:latin typeface="Georgia"/>
                <a:ea typeface="Georgia"/>
                <a:cs typeface="Georgia"/>
                <a:sym typeface="Georgia"/>
              </a:rPr>
              <a:t>What Makes a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4572000" y="1920240"/>
            <a:ext cx="7132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Great Red Wine?</a:t>
            </a:r>
            <a:endParaRPr/>
          </a:p>
        </p:txBody>
      </p:sp>
      <p:sp>
        <p:nvSpPr>
          <p:cNvPr id="97" name="Google Shape;97;p13"/>
          <p:cNvSpPr/>
          <p:nvPr/>
        </p:nvSpPr>
        <p:spPr>
          <a:xfrm>
            <a:off x="4572000" y="2834640"/>
            <a:ext cx="54864" cy="1097280"/>
          </a:xfrm>
          <a:prstGeom prst="rect">
            <a:avLst/>
          </a:prstGeom>
          <a:solidFill>
            <a:srgbClr val="C49A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54880" y="2834640"/>
            <a:ext cx="68580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8E0D8"/>
                </a:solidFill>
                <a:latin typeface="Calibri"/>
                <a:ea typeface="Calibri"/>
                <a:cs typeface="Calibri"/>
                <a:sym typeface="Calibri"/>
              </a:rPr>
              <a:t>A data-driven analysis of physicochemical</a:t>
            </a:r>
            <a:br>
              <a:rPr b="0" i="0" lang="en-US" sz="1200" u="none" cap="none" strike="noStrike">
                <a:solidFill>
                  <a:srgbClr val="E8E0D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E8E0D8"/>
                </a:solidFill>
                <a:latin typeface="Calibri"/>
                <a:ea typeface="Calibri"/>
                <a:cs typeface="Calibri"/>
                <a:sym typeface="Calibri"/>
              </a:rPr>
              <a:t>properties and their impact on expert</a:t>
            </a:r>
            <a:br>
              <a:rPr b="0" i="0" lang="en-US" sz="1200" u="none" cap="none" strike="noStrike">
                <a:solidFill>
                  <a:srgbClr val="E8E0D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E8E0D8"/>
                </a:solidFill>
                <a:latin typeface="Calibri"/>
                <a:ea typeface="Calibri"/>
                <a:cs typeface="Calibri"/>
                <a:sym typeface="Calibri"/>
              </a:rPr>
              <a:t>wine quality ratings — with assortment</a:t>
            </a:r>
            <a:br>
              <a:rPr b="0" i="0" lang="en-US" sz="1200" u="none" cap="none" strike="noStrike">
                <a:solidFill>
                  <a:srgbClr val="E8E0D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E8E0D8"/>
                </a:solidFill>
                <a:latin typeface="Calibri"/>
                <a:ea typeface="Calibri"/>
                <a:cs typeface="Calibri"/>
                <a:sym typeface="Calibri"/>
              </a:rPr>
              <a:t>recommendations for Kaufland.</a:t>
            </a:r>
            <a:endParaRPr/>
          </a:p>
        </p:txBody>
      </p:sp>
      <p:sp>
        <p:nvSpPr>
          <p:cNvPr id="99" name="Google Shape;99;p13"/>
          <p:cNvSpPr/>
          <p:nvPr/>
        </p:nvSpPr>
        <p:spPr>
          <a:xfrm>
            <a:off x="4169663" y="6217920"/>
            <a:ext cx="8019288" cy="640080"/>
          </a:xfrm>
          <a:prstGeom prst="rect">
            <a:avLst/>
          </a:prstGeom>
          <a:solidFill>
            <a:srgbClr val="7B1F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4572000" y="6291072"/>
            <a:ext cx="7315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7F0E6"/>
                </a:solidFill>
                <a:latin typeface="Calibri"/>
                <a:ea typeface="Calibri"/>
                <a:cs typeface="Calibri"/>
                <a:sym typeface="Calibri"/>
              </a:rPr>
              <a:t>  Red Wine Dataset (UCI ML Repository)  |  P. Cortez et al., 2009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AF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B1F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411480" y="9144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49A22"/>
                </a:solidFill>
                <a:latin typeface="Calibri"/>
                <a:ea typeface="Calibri"/>
                <a:cs typeface="Calibri"/>
                <a:sym typeface="Calibri"/>
              </a:rPr>
              <a:t>MANAGEMENT SUMMARY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411480" y="4572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Red Wine Quality Analysis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1430000" y="320040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C49A22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365760" y="1188720"/>
            <a:ext cx="5303520" cy="365760"/>
          </a:xfrm>
          <a:prstGeom prst="rect">
            <a:avLst/>
          </a:prstGeom>
          <a:solidFill>
            <a:srgbClr val="7B1F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365760" y="118872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KEY FINDING</a:t>
            </a:r>
            <a:endParaRPr/>
          </a:p>
        </p:txBody>
      </p:sp>
      <p:sp>
        <p:nvSpPr>
          <p:cNvPr id="112" name="Google Shape;112;p14"/>
          <p:cNvSpPr/>
          <p:nvPr/>
        </p:nvSpPr>
        <p:spPr>
          <a:xfrm>
            <a:off x="365760" y="1554480"/>
            <a:ext cx="5303520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/>
          <p:nvPr/>
        </p:nvSpPr>
        <p:spPr>
          <a:xfrm>
            <a:off x="365760" y="1554480"/>
            <a:ext cx="64008" cy="2468880"/>
          </a:xfrm>
          <a:prstGeom prst="rect">
            <a:avLst/>
          </a:prstGeom>
          <a:solidFill>
            <a:srgbClr val="7B1F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548640" y="1664208"/>
            <a:ext cx="4937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Three physicochemical properties explain the majority of wine quality variation:</a:t>
            </a:r>
            <a:endParaRPr/>
          </a:p>
        </p:txBody>
      </p:sp>
      <p:sp>
        <p:nvSpPr>
          <p:cNvPr id="115" name="Google Shape;115;p14"/>
          <p:cNvSpPr/>
          <p:nvPr/>
        </p:nvSpPr>
        <p:spPr>
          <a:xfrm>
            <a:off x="502920" y="2240280"/>
            <a:ext cx="1508760" cy="777240"/>
          </a:xfrm>
          <a:prstGeom prst="rect">
            <a:avLst/>
          </a:prstGeom>
          <a:solidFill>
            <a:srgbClr val="F7F0E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502920" y="2240280"/>
            <a:ext cx="1508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7B1F2A"/>
                </a:solidFill>
                <a:latin typeface="Calibri"/>
                <a:ea typeface="Calibri"/>
                <a:cs typeface="Calibri"/>
                <a:sym typeface="Calibri"/>
              </a:rPr>
              <a:t>ALCOHOL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502920" y="2487168"/>
            <a:ext cx="1508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7B1F2A"/>
                </a:solidFill>
                <a:latin typeface="Georgia"/>
                <a:ea typeface="Georgia"/>
                <a:cs typeface="Georgia"/>
                <a:sym typeface="Georgia"/>
              </a:rPr>
              <a:t>27.3%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502920" y="2816352"/>
            <a:ext cx="1508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importance</a:t>
            </a:r>
            <a:endParaRPr/>
          </a:p>
        </p:txBody>
      </p:sp>
      <p:sp>
        <p:nvSpPr>
          <p:cNvPr id="119" name="Google Shape;119;p14"/>
          <p:cNvSpPr/>
          <p:nvPr/>
        </p:nvSpPr>
        <p:spPr>
          <a:xfrm>
            <a:off x="2148840" y="2240280"/>
            <a:ext cx="1508760" cy="777240"/>
          </a:xfrm>
          <a:prstGeom prst="rect">
            <a:avLst/>
          </a:prstGeom>
          <a:solidFill>
            <a:srgbClr val="F7F0E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4"/>
          <p:cNvSpPr txBox="1"/>
          <p:nvPr/>
        </p:nvSpPr>
        <p:spPr>
          <a:xfrm>
            <a:off x="2148840" y="2240280"/>
            <a:ext cx="1508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7B1F2A"/>
                </a:solidFill>
                <a:latin typeface="Calibri"/>
                <a:ea typeface="Calibri"/>
                <a:cs typeface="Calibri"/>
                <a:sym typeface="Calibri"/>
              </a:rPr>
              <a:t>SULPHATES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2148840" y="2487168"/>
            <a:ext cx="1508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7B1F2A"/>
                </a:solidFill>
                <a:latin typeface="Georgia"/>
                <a:ea typeface="Georgia"/>
                <a:cs typeface="Georgia"/>
                <a:sym typeface="Georgia"/>
              </a:rPr>
              <a:t>15.1%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2148840" y="2816352"/>
            <a:ext cx="1508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importance</a:t>
            </a:r>
            <a:endParaRPr/>
          </a:p>
        </p:txBody>
      </p:sp>
      <p:sp>
        <p:nvSpPr>
          <p:cNvPr id="123" name="Google Shape;123;p14"/>
          <p:cNvSpPr/>
          <p:nvPr/>
        </p:nvSpPr>
        <p:spPr>
          <a:xfrm>
            <a:off x="3794760" y="2240280"/>
            <a:ext cx="1691640" cy="777240"/>
          </a:xfrm>
          <a:prstGeom prst="rect">
            <a:avLst/>
          </a:prstGeom>
          <a:solidFill>
            <a:srgbClr val="F7F0E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4"/>
          <p:cNvSpPr txBox="1"/>
          <p:nvPr/>
        </p:nvSpPr>
        <p:spPr>
          <a:xfrm>
            <a:off x="3794760" y="2240280"/>
            <a:ext cx="1691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7B1F2A"/>
                </a:solidFill>
                <a:latin typeface="Calibri"/>
                <a:ea typeface="Calibri"/>
                <a:cs typeface="Calibri"/>
                <a:sym typeface="Calibri"/>
              </a:rPr>
              <a:t>VOLATILE ACIDITY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3794760" y="2487168"/>
            <a:ext cx="1691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7B1F2A"/>
                </a:solidFill>
                <a:latin typeface="Georgia"/>
                <a:ea typeface="Georgia"/>
                <a:cs typeface="Georgia"/>
                <a:sym typeface="Georgia"/>
              </a:rPr>
              <a:t>10.8%</a:t>
            </a:r>
            <a:endParaRPr/>
          </a:p>
        </p:txBody>
      </p:sp>
      <p:sp>
        <p:nvSpPr>
          <p:cNvPr id="126" name="Google Shape;126;p14"/>
          <p:cNvSpPr txBox="1"/>
          <p:nvPr/>
        </p:nvSpPr>
        <p:spPr>
          <a:xfrm>
            <a:off x="3794760" y="2816352"/>
            <a:ext cx="1691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importance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548640" y="3127248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These three features alone account for over 53% of predictive power in our model.</a:t>
            </a:r>
            <a:endParaRPr/>
          </a:p>
        </p:txBody>
      </p:sp>
      <p:sp>
        <p:nvSpPr>
          <p:cNvPr id="128" name="Google Shape;128;p14"/>
          <p:cNvSpPr/>
          <p:nvPr/>
        </p:nvSpPr>
        <p:spPr>
          <a:xfrm>
            <a:off x="6217920" y="1188720"/>
            <a:ext cx="5577840" cy="365760"/>
          </a:xfrm>
          <a:prstGeom prst="rect">
            <a:avLst/>
          </a:prstGeom>
          <a:solidFill>
            <a:srgbClr val="4A101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4"/>
          <p:cNvSpPr txBox="1"/>
          <p:nvPr/>
        </p:nvSpPr>
        <p:spPr>
          <a:xfrm>
            <a:off x="6217920" y="1188720"/>
            <a:ext cx="5577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C49A22"/>
                </a:solidFill>
                <a:latin typeface="Calibri"/>
                <a:ea typeface="Calibri"/>
                <a:cs typeface="Calibri"/>
                <a:sym typeface="Calibri"/>
              </a:rPr>
              <a:t>  ASSORTMENT RECOMMENDATION</a:t>
            </a:r>
            <a:endParaRPr/>
          </a:p>
        </p:txBody>
      </p:sp>
      <p:sp>
        <p:nvSpPr>
          <p:cNvPr id="130" name="Google Shape;130;p14"/>
          <p:cNvSpPr/>
          <p:nvPr/>
        </p:nvSpPr>
        <p:spPr>
          <a:xfrm>
            <a:off x="6217920" y="1554480"/>
            <a:ext cx="5577840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4"/>
          <p:cNvSpPr/>
          <p:nvPr/>
        </p:nvSpPr>
        <p:spPr>
          <a:xfrm>
            <a:off x="6217920" y="1554480"/>
            <a:ext cx="64008" cy="2468880"/>
          </a:xfrm>
          <a:prstGeom prst="rect">
            <a:avLst/>
          </a:prstGeom>
          <a:solidFill>
            <a:srgbClr val="C49A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4"/>
          <p:cNvSpPr txBox="1"/>
          <p:nvPr/>
        </p:nvSpPr>
        <p:spPr>
          <a:xfrm>
            <a:off x="6400800" y="1645920"/>
            <a:ext cx="5212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Apply minimum thresholds when selecting red wine assortment:</a:t>
            </a:r>
            <a:endParaRPr/>
          </a:p>
        </p:txBody>
      </p:sp>
      <p:sp>
        <p:nvSpPr>
          <p:cNvPr id="133" name="Google Shape;133;p14"/>
          <p:cNvSpPr/>
          <p:nvPr/>
        </p:nvSpPr>
        <p:spPr>
          <a:xfrm>
            <a:off x="6355080" y="2084831"/>
            <a:ext cx="5303520" cy="411480"/>
          </a:xfrm>
          <a:prstGeom prst="rect">
            <a:avLst/>
          </a:prstGeom>
          <a:solidFill>
            <a:srgbClr val="F7F0E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4"/>
          <p:cNvSpPr txBox="1"/>
          <p:nvPr/>
        </p:nvSpPr>
        <p:spPr>
          <a:xfrm>
            <a:off x="6446520" y="2130551"/>
            <a:ext cx="2103120" cy="338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Alcohol content</a:t>
            </a:r>
            <a:endParaRPr/>
          </a:p>
        </p:txBody>
      </p:sp>
      <p:sp>
        <p:nvSpPr>
          <p:cNvPr id="135" name="Google Shape;135;p14"/>
          <p:cNvSpPr txBox="1"/>
          <p:nvPr/>
        </p:nvSpPr>
        <p:spPr>
          <a:xfrm>
            <a:off x="8595360" y="2130551"/>
            <a:ext cx="1097280" cy="338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7B1F2A"/>
                </a:solidFill>
                <a:latin typeface="Calibri"/>
                <a:ea typeface="Calibri"/>
                <a:cs typeface="Calibri"/>
                <a:sym typeface="Calibri"/>
              </a:rPr>
              <a:t>&gt; 11.0%</a:t>
            </a:r>
            <a:endParaRPr/>
          </a:p>
        </p:txBody>
      </p:sp>
      <p:sp>
        <p:nvSpPr>
          <p:cNvPr id="136" name="Google Shape;136;p14"/>
          <p:cNvSpPr txBox="1"/>
          <p:nvPr/>
        </p:nvSpPr>
        <p:spPr>
          <a:xfrm>
            <a:off x="9738360" y="2130551"/>
            <a:ext cx="18288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7D46"/>
                </a:solidFill>
                <a:latin typeface="Calibri"/>
                <a:ea typeface="Calibri"/>
                <a:cs typeface="Calibri"/>
                <a:sym typeface="Calibri"/>
              </a:rPr>
              <a:t>+1.59 pts vs low</a:t>
            </a:r>
            <a:endParaRPr/>
          </a:p>
        </p:txBody>
      </p:sp>
      <p:sp>
        <p:nvSpPr>
          <p:cNvPr id="137" name="Google Shape;137;p14"/>
          <p:cNvSpPr/>
          <p:nvPr/>
        </p:nvSpPr>
        <p:spPr>
          <a:xfrm>
            <a:off x="6355080" y="2532887"/>
            <a:ext cx="5303520" cy="411480"/>
          </a:xfrm>
          <a:prstGeom prst="rect">
            <a:avLst/>
          </a:prstGeom>
          <a:solidFill>
            <a:srgbClr val="F7F0E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4"/>
          <p:cNvSpPr txBox="1"/>
          <p:nvPr/>
        </p:nvSpPr>
        <p:spPr>
          <a:xfrm>
            <a:off x="6446520" y="2578607"/>
            <a:ext cx="2103120" cy="338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Sulphates</a:t>
            </a:r>
            <a:endParaRPr/>
          </a:p>
        </p:txBody>
      </p:sp>
      <p:sp>
        <p:nvSpPr>
          <p:cNvPr id="139" name="Google Shape;139;p14"/>
          <p:cNvSpPr txBox="1"/>
          <p:nvPr/>
        </p:nvSpPr>
        <p:spPr>
          <a:xfrm>
            <a:off x="8595360" y="2578607"/>
            <a:ext cx="1097280" cy="338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7B1F2A"/>
                </a:solidFill>
                <a:latin typeface="Calibri"/>
                <a:ea typeface="Calibri"/>
                <a:cs typeface="Calibri"/>
                <a:sym typeface="Calibri"/>
              </a:rPr>
              <a:t>&gt; 0.65 g/L</a:t>
            </a:r>
            <a:endParaRPr/>
          </a:p>
        </p:txBody>
      </p:sp>
      <p:sp>
        <p:nvSpPr>
          <p:cNvPr id="140" name="Google Shape;140;p14"/>
          <p:cNvSpPr txBox="1"/>
          <p:nvPr/>
        </p:nvSpPr>
        <p:spPr>
          <a:xfrm>
            <a:off x="9738360" y="2578607"/>
            <a:ext cx="18288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7D46"/>
                </a:solidFill>
                <a:latin typeface="Calibri"/>
                <a:ea typeface="Calibri"/>
                <a:cs typeface="Calibri"/>
                <a:sym typeface="Calibri"/>
              </a:rPr>
              <a:t>+0.12 pts vs low</a:t>
            </a:r>
            <a:endParaRPr/>
          </a:p>
        </p:txBody>
      </p:sp>
      <p:sp>
        <p:nvSpPr>
          <p:cNvPr id="141" name="Google Shape;141;p14"/>
          <p:cNvSpPr/>
          <p:nvPr/>
        </p:nvSpPr>
        <p:spPr>
          <a:xfrm>
            <a:off x="6355080" y="2980944"/>
            <a:ext cx="5303520" cy="411480"/>
          </a:xfrm>
          <a:prstGeom prst="rect">
            <a:avLst/>
          </a:prstGeom>
          <a:solidFill>
            <a:srgbClr val="F7F0E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4"/>
          <p:cNvSpPr txBox="1"/>
          <p:nvPr/>
        </p:nvSpPr>
        <p:spPr>
          <a:xfrm>
            <a:off x="6446520" y="3026663"/>
            <a:ext cx="2103120" cy="338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Volatile acidity</a:t>
            </a:r>
            <a:endParaRPr/>
          </a:p>
        </p:txBody>
      </p:sp>
      <p:sp>
        <p:nvSpPr>
          <p:cNvPr id="143" name="Google Shape;143;p14"/>
          <p:cNvSpPr txBox="1"/>
          <p:nvPr/>
        </p:nvSpPr>
        <p:spPr>
          <a:xfrm>
            <a:off x="8595360" y="3026663"/>
            <a:ext cx="1097280" cy="338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7B1F2A"/>
                </a:solidFill>
                <a:latin typeface="Calibri"/>
                <a:ea typeface="Calibri"/>
                <a:cs typeface="Calibri"/>
                <a:sym typeface="Calibri"/>
              </a:rPr>
              <a:t>&lt; 0.50 g/L</a:t>
            </a:r>
            <a:endParaRPr/>
          </a:p>
        </p:txBody>
      </p:sp>
      <p:sp>
        <p:nvSpPr>
          <p:cNvPr id="144" name="Google Shape;144;p14"/>
          <p:cNvSpPr txBox="1"/>
          <p:nvPr/>
        </p:nvSpPr>
        <p:spPr>
          <a:xfrm>
            <a:off x="9738360" y="3026663"/>
            <a:ext cx="18288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−0.18 pts vs low</a:t>
            </a:r>
            <a:endParaRPr/>
          </a:p>
        </p:txBody>
      </p:sp>
      <p:sp>
        <p:nvSpPr>
          <p:cNvPr id="145" name="Google Shape;145;p14"/>
          <p:cNvSpPr txBox="1"/>
          <p:nvPr/>
        </p:nvSpPr>
        <p:spPr>
          <a:xfrm>
            <a:off x="6400800" y="3456432"/>
            <a:ext cx="5212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5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Wines meeting all three thresholds have a ~73% probability of achieving quality ≥ 7.</a:t>
            </a:r>
            <a:endParaRPr/>
          </a:p>
        </p:txBody>
      </p:sp>
      <p:sp>
        <p:nvSpPr>
          <p:cNvPr id="146" name="Google Shape;146;p14"/>
          <p:cNvSpPr/>
          <p:nvPr/>
        </p:nvSpPr>
        <p:spPr>
          <a:xfrm>
            <a:off x="365760" y="4206240"/>
            <a:ext cx="11430000" cy="320040"/>
          </a:xfrm>
          <a:prstGeom prst="rect">
            <a:avLst/>
          </a:prstGeom>
          <a:solidFill>
            <a:srgbClr val="7B1F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4"/>
          <p:cNvSpPr txBox="1"/>
          <p:nvPr/>
        </p:nvSpPr>
        <p:spPr>
          <a:xfrm>
            <a:off x="365760" y="4206240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METHODOLOGY  |  Random Forest + XGBoost  |  Class balancing (SMOTE)  |  Cross-validated  |  n = 1,599 red wines</a:t>
            </a:r>
            <a:endParaRPr/>
          </a:p>
        </p:txBody>
      </p:sp>
      <p:sp>
        <p:nvSpPr>
          <p:cNvPr id="148" name="Google Shape;148;p14"/>
          <p:cNvSpPr/>
          <p:nvPr/>
        </p:nvSpPr>
        <p:spPr>
          <a:xfrm>
            <a:off x="365760" y="4663440"/>
            <a:ext cx="370332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4"/>
          <p:cNvSpPr/>
          <p:nvPr/>
        </p:nvSpPr>
        <p:spPr>
          <a:xfrm>
            <a:off x="365760" y="4663440"/>
            <a:ext cx="3703320" cy="347472"/>
          </a:xfrm>
          <a:prstGeom prst="rect">
            <a:avLst/>
          </a:prstGeom>
          <a:solidFill>
            <a:srgbClr val="E8E0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4"/>
          <p:cNvSpPr txBox="1"/>
          <p:nvPr/>
        </p:nvSpPr>
        <p:spPr>
          <a:xfrm>
            <a:off x="475488" y="4681728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1018"/>
                </a:solidFill>
                <a:latin typeface="Calibri"/>
                <a:ea typeface="Calibri"/>
                <a:cs typeface="Calibri"/>
                <a:sym typeface="Calibri"/>
              </a:rPr>
              <a:t>🔬 Data</a:t>
            </a:r>
            <a:endParaRPr/>
          </a:p>
        </p:txBody>
      </p:sp>
      <p:sp>
        <p:nvSpPr>
          <p:cNvPr id="151" name="Google Shape;151;p14"/>
          <p:cNvSpPr txBox="1"/>
          <p:nvPr/>
        </p:nvSpPr>
        <p:spPr>
          <a:xfrm>
            <a:off x="475488" y="5074920"/>
            <a:ext cx="349300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1,599 red wines assessed by expert tasters. 11 physicochemical features. Quality scored 1–10 (most wines: 5–6).</a:t>
            </a:r>
            <a:endParaRPr/>
          </a:p>
        </p:txBody>
      </p:sp>
      <p:sp>
        <p:nvSpPr>
          <p:cNvPr id="152" name="Google Shape;152;p14"/>
          <p:cNvSpPr/>
          <p:nvPr/>
        </p:nvSpPr>
        <p:spPr>
          <a:xfrm>
            <a:off x="4206240" y="4663440"/>
            <a:ext cx="370332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4"/>
          <p:cNvSpPr/>
          <p:nvPr/>
        </p:nvSpPr>
        <p:spPr>
          <a:xfrm>
            <a:off x="4206240" y="4663440"/>
            <a:ext cx="3703320" cy="347472"/>
          </a:xfrm>
          <a:prstGeom prst="rect">
            <a:avLst/>
          </a:prstGeom>
          <a:solidFill>
            <a:srgbClr val="E8E0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4"/>
          <p:cNvSpPr txBox="1"/>
          <p:nvPr/>
        </p:nvSpPr>
        <p:spPr>
          <a:xfrm>
            <a:off x="4315968" y="4681728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1018"/>
                </a:solidFill>
                <a:latin typeface="Calibri"/>
                <a:ea typeface="Calibri"/>
                <a:cs typeface="Calibri"/>
                <a:sym typeface="Calibri"/>
              </a:rPr>
              <a:t>📊 Model Accuracy</a:t>
            </a:r>
            <a:endParaRPr/>
          </a:p>
        </p:txBody>
      </p:sp>
      <p:sp>
        <p:nvSpPr>
          <p:cNvPr id="155" name="Google Shape;155;p14"/>
          <p:cNvSpPr txBox="1"/>
          <p:nvPr/>
        </p:nvSpPr>
        <p:spPr>
          <a:xfrm>
            <a:off x="4315968" y="5074920"/>
            <a:ext cx="349300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XGBoost with SMOTE balancing achieved 67% accuracy — reliable for trend identification and threshold-based screening.</a:t>
            </a:r>
            <a:endParaRPr/>
          </a:p>
        </p:txBody>
      </p:sp>
      <p:sp>
        <p:nvSpPr>
          <p:cNvPr id="156" name="Google Shape;156;p14"/>
          <p:cNvSpPr/>
          <p:nvPr/>
        </p:nvSpPr>
        <p:spPr>
          <a:xfrm>
            <a:off x="8046720" y="4663440"/>
            <a:ext cx="370332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4"/>
          <p:cNvSpPr/>
          <p:nvPr/>
        </p:nvSpPr>
        <p:spPr>
          <a:xfrm>
            <a:off x="8046720" y="4663440"/>
            <a:ext cx="3703320" cy="347472"/>
          </a:xfrm>
          <a:prstGeom prst="rect">
            <a:avLst/>
          </a:prstGeom>
          <a:solidFill>
            <a:srgbClr val="E8E0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4"/>
          <p:cNvSpPr txBox="1"/>
          <p:nvPr/>
        </p:nvSpPr>
        <p:spPr>
          <a:xfrm>
            <a:off x="8156448" y="4681728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1018"/>
                </a:solidFill>
                <a:latin typeface="Calibri"/>
                <a:ea typeface="Calibri"/>
                <a:cs typeface="Calibri"/>
                <a:sym typeface="Calibri"/>
              </a:rPr>
              <a:t>🎯 Business Impact</a:t>
            </a:r>
            <a:endParaRPr/>
          </a:p>
        </p:txBody>
      </p:sp>
      <p:sp>
        <p:nvSpPr>
          <p:cNvPr id="159" name="Google Shape;159;p14"/>
          <p:cNvSpPr txBox="1"/>
          <p:nvPr/>
        </p:nvSpPr>
        <p:spPr>
          <a:xfrm>
            <a:off x="8156448" y="5074920"/>
            <a:ext cx="349300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Threshold-based selection (alcohol, sulphates, acidity) provides an objective, repeatable screening tool to complement expert tasting.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5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AF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5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4A101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5"/>
          <p:cNvSpPr txBox="1"/>
          <p:nvPr/>
        </p:nvSpPr>
        <p:spPr>
          <a:xfrm>
            <a:off x="411480" y="9144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49A22"/>
                </a:solidFill>
                <a:latin typeface="Calibri"/>
                <a:ea typeface="Calibri"/>
                <a:cs typeface="Calibri"/>
                <a:sym typeface="Calibri"/>
              </a:rPr>
              <a:t>DATA &amp; METHODOLOGY</a:t>
            </a:r>
            <a:endParaRPr/>
          </a:p>
        </p:txBody>
      </p:sp>
      <p:sp>
        <p:nvSpPr>
          <p:cNvPr id="167" name="Google Shape;167;p15"/>
          <p:cNvSpPr txBox="1"/>
          <p:nvPr/>
        </p:nvSpPr>
        <p:spPr>
          <a:xfrm>
            <a:off x="411480" y="4572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Dataset Overview &amp; Analytical Approach</a:t>
            </a:r>
            <a:endParaRPr/>
          </a:p>
        </p:txBody>
      </p:sp>
      <p:sp>
        <p:nvSpPr>
          <p:cNvPr id="168" name="Google Shape;168;p15"/>
          <p:cNvSpPr txBox="1"/>
          <p:nvPr/>
        </p:nvSpPr>
        <p:spPr>
          <a:xfrm>
            <a:off x="11430000" y="320040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C49A22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/>
          </a:p>
        </p:txBody>
      </p:sp>
      <p:sp>
        <p:nvSpPr>
          <p:cNvPr id="169" name="Google Shape;169;p15"/>
          <p:cNvSpPr/>
          <p:nvPr/>
        </p:nvSpPr>
        <p:spPr>
          <a:xfrm>
            <a:off x="365760" y="1188720"/>
            <a:ext cx="5303520" cy="365760"/>
          </a:xfrm>
          <a:prstGeom prst="rect">
            <a:avLst/>
          </a:prstGeom>
          <a:solidFill>
            <a:srgbClr val="7B1F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5"/>
          <p:cNvSpPr txBox="1"/>
          <p:nvPr/>
        </p:nvSpPr>
        <p:spPr>
          <a:xfrm>
            <a:off x="365760" y="118872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DATASET</a:t>
            </a:r>
            <a:endParaRPr/>
          </a:p>
        </p:txBody>
      </p:sp>
      <p:sp>
        <p:nvSpPr>
          <p:cNvPr id="171" name="Google Shape;171;p15"/>
          <p:cNvSpPr/>
          <p:nvPr/>
        </p:nvSpPr>
        <p:spPr>
          <a:xfrm>
            <a:off x="365760" y="1691640"/>
            <a:ext cx="530352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5"/>
          <p:cNvSpPr/>
          <p:nvPr/>
        </p:nvSpPr>
        <p:spPr>
          <a:xfrm>
            <a:off x="365760" y="1691640"/>
            <a:ext cx="64008" cy="548640"/>
          </a:xfrm>
          <a:prstGeom prst="rect">
            <a:avLst/>
          </a:prstGeom>
          <a:solidFill>
            <a:srgbClr val="7B1F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5"/>
          <p:cNvSpPr txBox="1"/>
          <p:nvPr/>
        </p:nvSpPr>
        <p:spPr>
          <a:xfrm>
            <a:off x="548640" y="173736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B1F2A"/>
                </a:solidFill>
                <a:latin typeface="Georgia"/>
                <a:ea typeface="Georgia"/>
                <a:cs typeface="Georgia"/>
                <a:sym typeface="Georgia"/>
              </a:rPr>
              <a:t>1,599</a:t>
            </a:r>
            <a:endParaRPr/>
          </a:p>
        </p:txBody>
      </p:sp>
      <p:sp>
        <p:nvSpPr>
          <p:cNvPr id="174" name="Google Shape;174;p15"/>
          <p:cNvSpPr txBox="1"/>
          <p:nvPr/>
        </p:nvSpPr>
        <p:spPr>
          <a:xfrm>
            <a:off x="2011680" y="1810512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Red wine samples</a:t>
            </a:r>
            <a:endParaRPr/>
          </a:p>
        </p:txBody>
      </p:sp>
      <p:sp>
        <p:nvSpPr>
          <p:cNvPr id="175" name="Google Shape;175;p15"/>
          <p:cNvSpPr/>
          <p:nvPr/>
        </p:nvSpPr>
        <p:spPr>
          <a:xfrm>
            <a:off x="365760" y="2286000"/>
            <a:ext cx="530352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5"/>
          <p:cNvSpPr/>
          <p:nvPr/>
        </p:nvSpPr>
        <p:spPr>
          <a:xfrm>
            <a:off x="365760" y="2286000"/>
            <a:ext cx="64008" cy="548640"/>
          </a:xfrm>
          <a:prstGeom prst="rect">
            <a:avLst/>
          </a:prstGeom>
          <a:solidFill>
            <a:srgbClr val="7B1F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5"/>
          <p:cNvSpPr txBox="1"/>
          <p:nvPr/>
        </p:nvSpPr>
        <p:spPr>
          <a:xfrm>
            <a:off x="548640" y="233172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B1F2A"/>
                </a:solidFill>
                <a:latin typeface="Georgia"/>
                <a:ea typeface="Georgia"/>
                <a:cs typeface="Georgia"/>
                <a:sym typeface="Georgia"/>
              </a:rPr>
              <a:t>11</a:t>
            </a:r>
            <a:endParaRPr/>
          </a:p>
        </p:txBody>
      </p:sp>
      <p:sp>
        <p:nvSpPr>
          <p:cNvPr id="178" name="Google Shape;178;p15"/>
          <p:cNvSpPr txBox="1"/>
          <p:nvPr/>
        </p:nvSpPr>
        <p:spPr>
          <a:xfrm>
            <a:off x="2011680" y="2404872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Physicochemical features</a:t>
            </a:r>
            <a:endParaRPr/>
          </a:p>
        </p:txBody>
      </p:sp>
      <p:sp>
        <p:nvSpPr>
          <p:cNvPr id="179" name="Google Shape;179;p15"/>
          <p:cNvSpPr/>
          <p:nvPr/>
        </p:nvSpPr>
        <p:spPr>
          <a:xfrm>
            <a:off x="365760" y="2880360"/>
            <a:ext cx="530352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5"/>
          <p:cNvSpPr/>
          <p:nvPr/>
        </p:nvSpPr>
        <p:spPr>
          <a:xfrm>
            <a:off x="365760" y="2880360"/>
            <a:ext cx="64008" cy="548640"/>
          </a:xfrm>
          <a:prstGeom prst="rect">
            <a:avLst/>
          </a:prstGeom>
          <a:solidFill>
            <a:srgbClr val="7B1F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5"/>
          <p:cNvSpPr txBox="1"/>
          <p:nvPr/>
        </p:nvSpPr>
        <p:spPr>
          <a:xfrm>
            <a:off x="548640" y="2926079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B1F2A"/>
                </a:solidFill>
                <a:latin typeface="Georgia"/>
                <a:ea typeface="Georgia"/>
                <a:cs typeface="Georgia"/>
                <a:sym typeface="Georgia"/>
              </a:rPr>
              <a:t>1–10</a:t>
            </a:r>
            <a:endParaRPr/>
          </a:p>
        </p:txBody>
      </p:sp>
      <p:sp>
        <p:nvSpPr>
          <p:cNvPr id="182" name="Google Shape;182;p15"/>
          <p:cNvSpPr txBox="1"/>
          <p:nvPr/>
        </p:nvSpPr>
        <p:spPr>
          <a:xfrm>
            <a:off x="2011680" y="2999232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Quality score range</a:t>
            </a:r>
            <a:endParaRPr/>
          </a:p>
        </p:txBody>
      </p:sp>
      <p:sp>
        <p:nvSpPr>
          <p:cNvPr id="183" name="Google Shape;183;p15"/>
          <p:cNvSpPr/>
          <p:nvPr/>
        </p:nvSpPr>
        <p:spPr>
          <a:xfrm>
            <a:off x="365760" y="3474720"/>
            <a:ext cx="530352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5"/>
          <p:cNvSpPr/>
          <p:nvPr/>
        </p:nvSpPr>
        <p:spPr>
          <a:xfrm>
            <a:off x="365760" y="3474720"/>
            <a:ext cx="64008" cy="548640"/>
          </a:xfrm>
          <a:prstGeom prst="rect">
            <a:avLst/>
          </a:prstGeom>
          <a:solidFill>
            <a:srgbClr val="7B1F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5"/>
          <p:cNvSpPr txBox="1"/>
          <p:nvPr/>
        </p:nvSpPr>
        <p:spPr>
          <a:xfrm>
            <a:off x="548640" y="3520439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B1F2A"/>
                </a:solidFill>
                <a:latin typeface="Georgia"/>
                <a:ea typeface="Georgia"/>
                <a:cs typeface="Georgia"/>
                <a:sym typeface="Georgia"/>
              </a:rPr>
              <a:t>5 &amp; 6</a:t>
            </a:r>
            <a:endParaRPr/>
          </a:p>
        </p:txBody>
      </p:sp>
      <p:sp>
        <p:nvSpPr>
          <p:cNvPr id="186" name="Google Shape;186;p15"/>
          <p:cNvSpPr txBox="1"/>
          <p:nvPr/>
        </p:nvSpPr>
        <p:spPr>
          <a:xfrm>
            <a:off x="2011680" y="3593591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Most common ratings (81%)</a:t>
            </a:r>
            <a:endParaRPr/>
          </a:p>
        </p:txBody>
      </p:sp>
      <p:sp>
        <p:nvSpPr>
          <p:cNvPr id="187" name="Google Shape;187;p15"/>
          <p:cNvSpPr/>
          <p:nvPr/>
        </p:nvSpPr>
        <p:spPr>
          <a:xfrm>
            <a:off x="365760" y="4133087"/>
            <a:ext cx="5303520" cy="960120"/>
          </a:xfrm>
          <a:prstGeom prst="rect">
            <a:avLst/>
          </a:prstGeom>
          <a:solidFill>
            <a:srgbClr val="F7F0E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5"/>
          <p:cNvSpPr/>
          <p:nvPr/>
        </p:nvSpPr>
        <p:spPr>
          <a:xfrm>
            <a:off x="365760" y="4133087"/>
            <a:ext cx="64008" cy="960120"/>
          </a:xfrm>
          <a:prstGeom prst="rect">
            <a:avLst/>
          </a:prstGeom>
          <a:solidFill>
            <a:srgbClr val="C49A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5"/>
          <p:cNvSpPr txBox="1"/>
          <p:nvPr/>
        </p:nvSpPr>
        <p:spPr>
          <a:xfrm>
            <a:off x="548640" y="4160520"/>
            <a:ext cx="4937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1018"/>
                </a:solidFill>
                <a:latin typeface="Calibri"/>
                <a:ea typeface="Calibri"/>
                <a:cs typeface="Calibri"/>
                <a:sym typeface="Calibri"/>
              </a:rPr>
              <a:t>⚠  Class Imbalance Challenge</a:t>
            </a:r>
            <a:endParaRPr/>
          </a:p>
        </p:txBody>
      </p:sp>
      <p:sp>
        <p:nvSpPr>
          <p:cNvPr id="190" name="Google Shape;190;p15"/>
          <p:cNvSpPr txBox="1"/>
          <p:nvPr/>
        </p:nvSpPr>
        <p:spPr>
          <a:xfrm>
            <a:off x="548640" y="4498848"/>
            <a:ext cx="4937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High-quality wines (score ≥ 7) represent only 13.6% of the dataset.</a:t>
            </a:r>
            <a:br>
              <a:rPr b="0" i="0" lang="en-US" sz="10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This required SMOTE oversampling to avoid model bias toward average wines.</a:t>
            </a:r>
            <a:endParaRPr/>
          </a:p>
        </p:txBody>
      </p:sp>
      <p:sp>
        <p:nvSpPr>
          <p:cNvPr id="191" name="Google Shape;191;p15"/>
          <p:cNvSpPr/>
          <p:nvPr/>
        </p:nvSpPr>
        <p:spPr>
          <a:xfrm>
            <a:off x="365760" y="5257800"/>
            <a:ext cx="5303520" cy="365760"/>
          </a:xfrm>
          <a:prstGeom prst="rect">
            <a:avLst/>
          </a:prstGeom>
          <a:solidFill>
            <a:srgbClr val="4A101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5"/>
          <p:cNvSpPr txBox="1"/>
          <p:nvPr/>
        </p:nvSpPr>
        <p:spPr>
          <a:xfrm>
            <a:off x="365760" y="5257800"/>
            <a:ext cx="5303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QUALITY DISTRIBUTION (n=1,599)</a:t>
            </a:r>
            <a:endParaRPr/>
          </a:p>
        </p:txBody>
      </p:sp>
      <p:sp>
        <p:nvSpPr>
          <p:cNvPr id="193" name="Google Shape;193;p15"/>
          <p:cNvSpPr/>
          <p:nvPr/>
        </p:nvSpPr>
        <p:spPr>
          <a:xfrm>
            <a:off x="457200" y="6345680"/>
            <a:ext cx="594360" cy="9399"/>
          </a:xfrm>
          <a:prstGeom prst="rect">
            <a:avLst/>
          </a:prstGeom>
          <a:solidFill>
            <a:srgbClr val="E8E0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5"/>
          <p:cNvSpPr txBox="1"/>
          <p:nvPr/>
        </p:nvSpPr>
        <p:spPr>
          <a:xfrm>
            <a:off x="457200" y="6355080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95" name="Google Shape;195;p15"/>
          <p:cNvSpPr/>
          <p:nvPr/>
        </p:nvSpPr>
        <p:spPr>
          <a:xfrm>
            <a:off x="1170432" y="6305264"/>
            <a:ext cx="594360" cy="49815"/>
          </a:xfrm>
          <a:prstGeom prst="rect">
            <a:avLst/>
          </a:prstGeom>
          <a:solidFill>
            <a:srgbClr val="E8E0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5"/>
          <p:cNvSpPr txBox="1"/>
          <p:nvPr/>
        </p:nvSpPr>
        <p:spPr>
          <a:xfrm>
            <a:off x="1170432" y="6355080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97" name="Google Shape;197;p15"/>
          <p:cNvSpPr/>
          <p:nvPr/>
        </p:nvSpPr>
        <p:spPr>
          <a:xfrm>
            <a:off x="1883664" y="5715000"/>
            <a:ext cx="594360" cy="640080"/>
          </a:xfrm>
          <a:prstGeom prst="rect">
            <a:avLst/>
          </a:prstGeom>
          <a:solidFill>
            <a:srgbClr val="A83B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5"/>
          <p:cNvSpPr txBox="1"/>
          <p:nvPr/>
        </p:nvSpPr>
        <p:spPr>
          <a:xfrm>
            <a:off x="1883664" y="6355080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99" name="Google Shape;199;p15"/>
          <p:cNvSpPr/>
          <p:nvPr/>
        </p:nvSpPr>
        <p:spPr>
          <a:xfrm>
            <a:off x="2596896" y="5755416"/>
            <a:ext cx="594360" cy="599663"/>
          </a:xfrm>
          <a:prstGeom prst="rect">
            <a:avLst/>
          </a:prstGeom>
          <a:solidFill>
            <a:srgbClr val="7B1F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5"/>
          <p:cNvSpPr txBox="1"/>
          <p:nvPr/>
        </p:nvSpPr>
        <p:spPr>
          <a:xfrm>
            <a:off x="2596896" y="6355080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01" name="Google Shape;201;p15"/>
          <p:cNvSpPr/>
          <p:nvPr/>
        </p:nvSpPr>
        <p:spPr>
          <a:xfrm>
            <a:off x="3310128" y="6168037"/>
            <a:ext cx="594360" cy="187042"/>
          </a:xfrm>
          <a:prstGeom prst="rect">
            <a:avLst/>
          </a:prstGeom>
          <a:solidFill>
            <a:srgbClr val="7B1F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5"/>
          <p:cNvSpPr txBox="1"/>
          <p:nvPr/>
        </p:nvSpPr>
        <p:spPr>
          <a:xfrm>
            <a:off x="3310128" y="6355080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203" name="Google Shape;203;p15"/>
          <p:cNvSpPr/>
          <p:nvPr/>
        </p:nvSpPr>
        <p:spPr>
          <a:xfrm>
            <a:off x="4023360" y="6338161"/>
            <a:ext cx="594360" cy="16918"/>
          </a:xfrm>
          <a:prstGeom prst="rect">
            <a:avLst/>
          </a:prstGeom>
          <a:solidFill>
            <a:srgbClr val="E8E0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5"/>
          <p:cNvSpPr txBox="1"/>
          <p:nvPr/>
        </p:nvSpPr>
        <p:spPr>
          <a:xfrm>
            <a:off x="4023360" y="6355080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05" name="Google Shape;205;p15"/>
          <p:cNvSpPr/>
          <p:nvPr/>
        </p:nvSpPr>
        <p:spPr>
          <a:xfrm>
            <a:off x="6217920" y="1188720"/>
            <a:ext cx="5577840" cy="365760"/>
          </a:xfrm>
          <a:prstGeom prst="rect">
            <a:avLst/>
          </a:prstGeom>
          <a:solidFill>
            <a:srgbClr val="4A101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5"/>
          <p:cNvSpPr txBox="1"/>
          <p:nvPr/>
        </p:nvSpPr>
        <p:spPr>
          <a:xfrm>
            <a:off x="6217920" y="1188720"/>
            <a:ext cx="5577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C49A22"/>
                </a:solidFill>
                <a:latin typeface="Calibri"/>
                <a:ea typeface="Calibri"/>
                <a:cs typeface="Calibri"/>
                <a:sym typeface="Calibri"/>
              </a:rPr>
              <a:t>  ANALYTICAL APPROACH</a:t>
            </a:r>
            <a:endParaRPr/>
          </a:p>
        </p:txBody>
      </p:sp>
      <p:sp>
        <p:nvSpPr>
          <p:cNvPr id="207" name="Google Shape;207;p15"/>
          <p:cNvSpPr/>
          <p:nvPr/>
        </p:nvSpPr>
        <p:spPr>
          <a:xfrm>
            <a:off x="6217920" y="1691640"/>
            <a:ext cx="5577840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5"/>
          <p:cNvSpPr/>
          <p:nvPr/>
        </p:nvSpPr>
        <p:spPr>
          <a:xfrm>
            <a:off x="6217920" y="1691640"/>
            <a:ext cx="502920" cy="804672"/>
          </a:xfrm>
          <a:prstGeom prst="rect">
            <a:avLst/>
          </a:prstGeom>
          <a:solidFill>
            <a:srgbClr val="7B1F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5"/>
          <p:cNvSpPr txBox="1"/>
          <p:nvPr/>
        </p:nvSpPr>
        <p:spPr>
          <a:xfrm>
            <a:off x="6217920" y="187452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/>
          </a:p>
        </p:txBody>
      </p:sp>
      <p:sp>
        <p:nvSpPr>
          <p:cNvPr id="210" name="Google Shape;210;p15"/>
          <p:cNvSpPr txBox="1"/>
          <p:nvPr/>
        </p:nvSpPr>
        <p:spPr>
          <a:xfrm>
            <a:off x="6858000" y="1737360"/>
            <a:ext cx="4754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1018"/>
                </a:solidFill>
                <a:latin typeface="Calibri"/>
                <a:ea typeface="Calibri"/>
                <a:cs typeface="Calibri"/>
                <a:sym typeface="Calibri"/>
              </a:rPr>
              <a:t>Exploratory Data Analysis</a:t>
            </a:r>
            <a:endParaRPr/>
          </a:p>
        </p:txBody>
      </p:sp>
      <p:sp>
        <p:nvSpPr>
          <p:cNvPr id="211" name="Google Shape;211;p15"/>
          <p:cNvSpPr txBox="1"/>
          <p:nvPr/>
        </p:nvSpPr>
        <p:spPr>
          <a:xfrm>
            <a:off x="6858000" y="2039112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Correlation heatmap, quality distribution, feature-by-quality boxplots to understand relationships.</a:t>
            </a:r>
            <a:endParaRPr/>
          </a:p>
        </p:txBody>
      </p:sp>
      <p:sp>
        <p:nvSpPr>
          <p:cNvPr id="212" name="Google Shape;212;p15"/>
          <p:cNvSpPr/>
          <p:nvPr/>
        </p:nvSpPr>
        <p:spPr>
          <a:xfrm>
            <a:off x="6217920" y="2560320"/>
            <a:ext cx="5577840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5"/>
          <p:cNvSpPr/>
          <p:nvPr/>
        </p:nvSpPr>
        <p:spPr>
          <a:xfrm>
            <a:off x="6217920" y="2560320"/>
            <a:ext cx="502920" cy="804672"/>
          </a:xfrm>
          <a:prstGeom prst="rect">
            <a:avLst/>
          </a:prstGeom>
          <a:solidFill>
            <a:srgbClr val="7B1F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5"/>
          <p:cNvSpPr txBox="1"/>
          <p:nvPr/>
        </p:nvSpPr>
        <p:spPr>
          <a:xfrm>
            <a:off x="6217920" y="274320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/>
          </a:p>
        </p:txBody>
      </p:sp>
      <p:sp>
        <p:nvSpPr>
          <p:cNvPr id="215" name="Google Shape;215;p15"/>
          <p:cNvSpPr txBox="1"/>
          <p:nvPr/>
        </p:nvSpPr>
        <p:spPr>
          <a:xfrm>
            <a:off x="6858000" y="2606039"/>
            <a:ext cx="4754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1018"/>
                </a:solidFill>
                <a:latin typeface="Calibri"/>
                <a:ea typeface="Calibri"/>
                <a:cs typeface="Calibri"/>
                <a:sym typeface="Calibri"/>
              </a:rPr>
              <a:t>Class Balancing (SMOTE)</a:t>
            </a:r>
            <a:endParaRPr/>
          </a:p>
        </p:txBody>
      </p:sp>
      <p:sp>
        <p:nvSpPr>
          <p:cNvPr id="216" name="Google Shape;216;p15"/>
          <p:cNvSpPr txBox="1"/>
          <p:nvPr/>
        </p:nvSpPr>
        <p:spPr>
          <a:xfrm>
            <a:off x="6858000" y="2907791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Synthetic oversampling of minority classes (quality 3, 4, 7, 8) to address severe imbalance.</a:t>
            </a:r>
            <a:endParaRPr/>
          </a:p>
        </p:txBody>
      </p:sp>
      <p:sp>
        <p:nvSpPr>
          <p:cNvPr id="217" name="Google Shape;217;p15"/>
          <p:cNvSpPr/>
          <p:nvPr/>
        </p:nvSpPr>
        <p:spPr>
          <a:xfrm>
            <a:off x="6217920" y="3429000"/>
            <a:ext cx="5577840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5"/>
          <p:cNvSpPr/>
          <p:nvPr/>
        </p:nvSpPr>
        <p:spPr>
          <a:xfrm>
            <a:off x="6217920" y="3429000"/>
            <a:ext cx="502920" cy="804672"/>
          </a:xfrm>
          <a:prstGeom prst="rect">
            <a:avLst/>
          </a:prstGeom>
          <a:solidFill>
            <a:srgbClr val="7B1F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5"/>
          <p:cNvSpPr txBox="1"/>
          <p:nvPr/>
        </p:nvSpPr>
        <p:spPr>
          <a:xfrm>
            <a:off x="6217920" y="361188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/>
          </a:p>
        </p:txBody>
      </p:sp>
      <p:sp>
        <p:nvSpPr>
          <p:cNvPr id="220" name="Google Shape;220;p15"/>
          <p:cNvSpPr txBox="1"/>
          <p:nvPr/>
        </p:nvSpPr>
        <p:spPr>
          <a:xfrm>
            <a:off x="6858000" y="3474720"/>
            <a:ext cx="4754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1018"/>
                </a:solidFill>
                <a:latin typeface="Calibri"/>
                <a:ea typeface="Calibri"/>
                <a:cs typeface="Calibri"/>
                <a:sym typeface="Calibri"/>
              </a:rPr>
              <a:t>Feature Importance</a:t>
            </a:r>
            <a:endParaRPr/>
          </a:p>
        </p:txBody>
      </p:sp>
      <p:sp>
        <p:nvSpPr>
          <p:cNvPr id="221" name="Google Shape;221;p15"/>
          <p:cNvSpPr txBox="1"/>
          <p:nvPr/>
        </p:nvSpPr>
        <p:spPr>
          <a:xfrm>
            <a:off x="6858000" y="3776472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Random Forest used to rank all 11 features by predictive contribution to wine quality.</a:t>
            </a:r>
            <a:endParaRPr/>
          </a:p>
        </p:txBody>
      </p:sp>
      <p:sp>
        <p:nvSpPr>
          <p:cNvPr id="222" name="Google Shape;222;p15"/>
          <p:cNvSpPr/>
          <p:nvPr/>
        </p:nvSpPr>
        <p:spPr>
          <a:xfrm>
            <a:off x="6217920" y="4297680"/>
            <a:ext cx="5577840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5"/>
          <p:cNvSpPr/>
          <p:nvPr/>
        </p:nvSpPr>
        <p:spPr>
          <a:xfrm>
            <a:off x="6217920" y="4297680"/>
            <a:ext cx="502920" cy="804672"/>
          </a:xfrm>
          <a:prstGeom prst="rect">
            <a:avLst/>
          </a:prstGeom>
          <a:solidFill>
            <a:srgbClr val="7B1F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5"/>
          <p:cNvSpPr txBox="1"/>
          <p:nvPr/>
        </p:nvSpPr>
        <p:spPr>
          <a:xfrm>
            <a:off x="6217920" y="448056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04</a:t>
            </a:r>
            <a:endParaRPr/>
          </a:p>
        </p:txBody>
      </p:sp>
      <p:sp>
        <p:nvSpPr>
          <p:cNvPr id="225" name="Google Shape;225;p15"/>
          <p:cNvSpPr txBox="1"/>
          <p:nvPr/>
        </p:nvSpPr>
        <p:spPr>
          <a:xfrm>
            <a:off x="6858000" y="4343400"/>
            <a:ext cx="4754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1018"/>
                </a:solidFill>
                <a:latin typeface="Calibri"/>
                <a:ea typeface="Calibri"/>
                <a:cs typeface="Calibri"/>
                <a:sym typeface="Calibri"/>
              </a:rPr>
              <a:t>Model Training &amp; Tuning</a:t>
            </a:r>
            <a:endParaRPr/>
          </a:p>
        </p:txBody>
      </p:sp>
      <p:sp>
        <p:nvSpPr>
          <p:cNvPr id="226" name="Google Shape;226;p15"/>
          <p:cNvSpPr txBox="1"/>
          <p:nvPr/>
        </p:nvSpPr>
        <p:spPr>
          <a:xfrm>
            <a:off x="6858000" y="4645152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XGBoost with RandomizedSearchCV cross-validation. Compared vs. baseline Random Forest.</a:t>
            </a:r>
            <a:endParaRPr/>
          </a:p>
        </p:txBody>
      </p:sp>
      <p:sp>
        <p:nvSpPr>
          <p:cNvPr id="227" name="Google Shape;227;p15"/>
          <p:cNvSpPr/>
          <p:nvPr/>
        </p:nvSpPr>
        <p:spPr>
          <a:xfrm>
            <a:off x="6217920" y="5166360"/>
            <a:ext cx="5577840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5"/>
          <p:cNvSpPr/>
          <p:nvPr/>
        </p:nvSpPr>
        <p:spPr>
          <a:xfrm>
            <a:off x="6217920" y="5166360"/>
            <a:ext cx="502920" cy="804672"/>
          </a:xfrm>
          <a:prstGeom prst="rect">
            <a:avLst/>
          </a:prstGeom>
          <a:solidFill>
            <a:srgbClr val="7B1F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5"/>
          <p:cNvSpPr txBox="1"/>
          <p:nvPr/>
        </p:nvSpPr>
        <p:spPr>
          <a:xfrm>
            <a:off x="6217920" y="534924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05</a:t>
            </a:r>
            <a:endParaRPr/>
          </a:p>
        </p:txBody>
      </p:sp>
      <p:sp>
        <p:nvSpPr>
          <p:cNvPr id="230" name="Google Shape;230;p15"/>
          <p:cNvSpPr txBox="1"/>
          <p:nvPr/>
        </p:nvSpPr>
        <p:spPr>
          <a:xfrm>
            <a:off x="6858000" y="5212080"/>
            <a:ext cx="4754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1018"/>
                </a:solidFill>
                <a:latin typeface="Calibri"/>
                <a:ea typeface="Calibri"/>
                <a:cs typeface="Calibri"/>
                <a:sym typeface="Calibri"/>
              </a:rPr>
              <a:t>Business Translation</a:t>
            </a:r>
            <a:endParaRPr/>
          </a:p>
        </p:txBody>
      </p:sp>
      <p:sp>
        <p:nvSpPr>
          <p:cNvPr id="231" name="Google Shape;231;p15"/>
          <p:cNvSpPr txBox="1"/>
          <p:nvPr/>
        </p:nvSpPr>
        <p:spPr>
          <a:xfrm>
            <a:off x="6858000" y="5513832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Model outputs converted to actionable thresholds for Kaufland assortment decisions.</a:t>
            </a:r>
            <a:endParaRPr/>
          </a:p>
        </p:txBody>
      </p:sp>
      <p:sp>
        <p:nvSpPr>
          <p:cNvPr id="232" name="Google Shape;232;p15"/>
          <p:cNvSpPr/>
          <p:nvPr/>
        </p:nvSpPr>
        <p:spPr>
          <a:xfrm>
            <a:off x="365760" y="6583680"/>
            <a:ext cx="11430000" cy="201168"/>
          </a:xfrm>
          <a:prstGeom prst="rect">
            <a:avLst/>
          </a:prstGeom>
          <a:solidFill>
            <a:srgbClr val="E8E0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5"/>
          <p:cNvSpPr txBox="1"/>
          <p:nvPr/>
        </p:nvSpPr>
        <p:spPr>
          <a:xfrm>
            <a:off x="457200" y="6592824"/>
            <a:ext cx="11247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Source: UCI ML Repository — Cortez et al. (2009). Modeling wine preferences by data mining from physicochemical properties. Decision Support Systems, 47(4):547–553.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6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AF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6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B1F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6"/>
          <p:cNvSpPr txBox="1"/>
          <p:nvPr/>
        </p:nvSpPr>
        <p:spPr>
          <a:xfrm>
            <a:off x="411480" y="9144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49A22"/>
                </a:solidFill>
                <a:latin typeface="Calibri"/>
                <a:ea typeface="Calibri"/>
                <a:cs typeface="Calibri"/>
                <a:sym typeface="Calibri"/>
              </a:rPr>
              <a:t>KEY FINDINGS</a:t>
            </a:r>
            <a:endParaRPr/>
          </a:p>
        </p:txBody>
      </p:sp>
      <p:sp>
        <p:nvSpPr>
          <p:cNvPr id="241" name="Google Shape;241;p16"/>
          <p:cNvSpPr txBox="1"/>
          <p:nvPr/>
        </p:nvSpPr>
        <p:spPr>
          <a:xfrm>
            <a:off x="411480" y="4572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Drivers of Outstanding Wine Quality</a:t>
            </a:r>
            <a:endParaRPr/>
          </a:p>
        </p:txBody>
      </p:sp>
      <p:sp>
        <p:nvSpPr>
          <p:cNvPr id="242" name="Google Shape;242;p16"/>
          <p:cNvSpPr txBox="1"/>
          <p:nvPr/>
        </p:nvSpPr>
        <p:spPr>
          <a:xfrm>
            <a:off x="11430000" y="320040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C49A22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/>
          </a:p>
        </p:txBody>
      </p:sp>
      <p:sp>
        <p:nvSpPr>
          <p:cNvPr id="243" name="Google Shape;243;p16"/>
          <p:cNvSpPr/>
          <p:nvPr/>
        </p:nvSpPr>
        <p:spPr>
          <a:xfrm>
            <a:off x="365760" y="1188720"/>
            <a:ext cx="5486400" cy="347472"/>
          </a:xfrm>
          <a:prstGeom prst="rect">
            <a:avLst/>
          </a:prstGeom>
          <a:solidFill>
            <a:srgbClr val="4A101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6"/>
          <p:cNvSpPr txBox="1"/>
          <p:nvPr/>
        </p:nvSpPr>
        <p:spPr>
          <a:xfrm>
            <a:off x="365760" y="1188720"/>
            <a:ext cx="5486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FEATURE IMPORTANCE — RANDOM FOREST MODEL</a:t>
            </a:r>
            <a:endParaRPr/>
          </a:p>
        </p:txBody>
      </p:sp>
      <p:sp>
        <p:nvSpPr>
          <p:cNvPr id="245" name="Google Shape;245;p16"/>
          <p:cNvSpPr/>
          <p:nvPr/>
        </p:nvSpPr>
        <p:spPr>
          <a:xfrm>
            <a:off x="365760" y="1627632"/>
            <a:ext cx="1417320" cy="274320"/>
          </a:xfrm>
          <a:prstGeom prst="rect">
            <a:avLst/>
          </a:prstGeom>
          <a:solidFill>
            <a:srgbClr val="FDFAF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6"/>
          <p:cNvSpPr txBox="1"/>
          <p:nvPr/>
        </p:nvSpPr>
        <p:spPr>
          <a:xfrm>
            <a:off x="384048" y="1627632"/>
            <a:ext cx="13898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Alcohol</a:t>
            </a:r>
            <a:endParaRPr/>
          </a:p>
        </p:txBody>
      </p:sp>
      <p:sp>
        <p:nvSpPr>
          <p:cNvPr id="247" name="Google Shape;247;p16"/>
          <p:cNvSpPr/>
          <p:nvPr/>
        </p:nvSpPr>
        <p:spPr>
          <a:xfrm>
            <a:off x="1801368" y="1664208"/>
            <a:ext cx="3657600" cy="201168"/>
          </a:xfrm>
          <a:prstGeom prst="rect">
            <a:avLst/>
          </a:prstGeom>
          <a:solidFill>
            <a:srgbClr val="7B1F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6"/>
          <p:cNvSpPr txBox="1"/>
          <p:nvPr/>
        </p:nvSpPr>
        <p:spPr>
          <a:xfrm>
            <a:off x="5522976" y="1627632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4A1018"/>
                </a:solidFill>
                <a:latin typeface="Calibri"/>
                <a:ea typeface="Calibri"/>
                <a:cs typeface="Calibri"/>
                <a:sym typeface="Calibri"/>
              </a:rPr>
              <a:t>27.3%</a:t>
            </a:r>
            <a:endParaRPr/>
          </a:p>
        </p:txBody>
      </p:sp>
      <p:sp>
        <p:nvSpPr>
          <p:cNvPr id="249" name="Google Shape;249;p16"/>
          <p:cNvSpPr/>
          <p:nvPr/>
        </p:nvSpPr>
        <p:spPr>
          <a:xfrm>
            <a:off x="365760" y="1938528"/>
            <a:ext cx="1417320" cy="274320"/>
          </a:xfrm>
          <a:prstGeom prst="rect">
            <a:avLst/>
          </a:prstGeom>
          <a:solidFill>
            <a:srgbClr val="FDFAF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6"/>
          <p:cNvSpPr txBox="1"/>
          <p:nvPr/>
        </p:nvSpPr>
        <p:spPr>
          <a:xfrm>
            <a:off x="384048" y="1938528"/>
            <a:ext cx="13898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Sulphates</a:t>
            </a:r>
            <a:endParaRPr/>
          </a:p>
        </p:txBody>
      </p:sp>
      <p:sp>
        <p:nvSpPr>
          <p:cNvPr id="251" name="Google Shape;251;p16"/>
          <p:cNvSpPr/>
          <p:nvPr/>
        </p:nvSpPr>
        <p:spPr>
          <a:xfrm>
            <a:off x="1801368" y="1975104"/>
            <a:ext cx="2023068" cy="201168"/>
          </a:xfrm>
          <a:prstGeom prst="rect">
            <a:avLst/>
          </a:prstGeom>
          <a:solidFill>
            <a:srgbClr val="A83B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6"/>
          <p:cNvSpPr txBox="1"/>
          <p:nvPr/>
        </p:nvSpPr>
        <p:spPr>
          <a:xfrm>
            <a:off x="3888444" y="1938528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4A1018"/>
                </a:solidFill>
                <a:latin typeface="Calibri"/>
                <a:ea typeface="Calibri"/>
                <a:cs typeface="Calibri"/>
                <a:sym typeface="Calibri"/>
              </a:rPr>
              <a:t>15.1%</a:t>
            </a:r>
            <a:endParaRPr/>
          </a:p>
        </p:txBody>
      </p:sp>
      <p:sp>
        <p:nvSpPr>
          <p:cNvPr id="253" name="Google Shape;253;p16"/>
          <p:cNvSpPr/>
          <p:nvPr/>
        </p:nvSpPr>
        <p:spPr>
          <a:xfrm>
            <a:off x="365760" y="2249424"/>
            <a:ext cx="1417320" cy="274320"/>
          </a:xfrm>
          <a:prstGeom prst="rect">
            <a:avLst/>
          </a:prstGeom>
          <a:solidFill>
            <a:srgbClr val="FDFAF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6"/>
          <p:cNvSpPr txBox="1"/>
          <p:nvPr/>
        </p:nvSpPr>
        <p:spPr>
          <a:xfrm>
            <a:off x="384048" y="2249424"/>
            <a:ext cx="13898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Volatile Acidity</a:t>
            </a:r>
            <a:endParaRPr/>
          </a:p>
        </p:txBody>
      </p:sp>
      <p:sp>
        <p:nvSpPr>
          <p:cNvPr id="255" name="Google Shape;255;p16"/>
          <p:cNvSpPr/>
          <p:nvPr/>
        </p:nvSpPr>
        <p:spPr>
          <a:xfrm>
            <a:off x="1801368" y="2286000"/>
            <a:ext cx="1446962" cy="201168"/>
          </a:xfrm>
          <a:prstGeom prst="rect">
            <a:avLst/>
          </a:prstGeom>
          <a:solidFill>
            <a:srgbClr val="A83B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6"/>
          <p:cNvSpPr txBox="1"/>
          <p:nvPr/>
        </p:nvSpPr>
        <p:spPr>
          <a:xfrm>
            <a:off x="3312338" y="2249424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4A1018"/>
                </a:solidFill>
                <a:latin typeface="Calibri"/>
                <a:ea typeface="Calibri"/>
                <a:cs typeface="Calibri"/>
                <a:sym typeface="Calibri"/>
              </a:rPr>
              <a:t>10.8%</a:t>
            </a:r>
            <a:endParaRPr/>
          </a:p>
        </p:txBody>
      </p:sp>
      <p:sp>
        <p:nvSpPr>
          <p:cNvPr id="257" name="Google Shape;257;p16"/>
          <p:cNvSpPr/>
          <p:nvPr/>
        </p:nvSpPr>
        <p:spPr>
          <a:xfrm>
            <a:off x="365760" y="2560320"/>
            <a:ext cx="1417320" cy="274320"/>
          </a:xfrm>
          <a:prstGeom prst="rect">
            <a:avLst/>
          </a:prstGeom>
          <a:solidFill>
            <a:srgbClr val="FDFAF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6"/>
          <p:cNvSpPr txBox="1"/>
          <p:nvPr/>
        </p:nvSpPr>
        <p:spPr>
          <a:xfrm>
            <a:off x="384048" y="2560320"/>
            <a:ext cx="13898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Total SO₂</a:t>
            </a:r>
            <a:endParaRPr/>
          </a:p>
        </p:txBody>
      </p:sp>
      <p:sp>
        <p:nvSpPr>
          <p:cNvPr id="259" name="Google Shape;259;p16"/>
          <p:cNvSpPr/>
          <p:nvPr/>
        </p:nvSpPr>
        <p:spPr>
          <a:xfrm>
            <a:off x="1801368" y="2596896"/>
            <a:ext cx="1045028" cy="201168"/>
          </a:xfrm>
          <a:prstGeom prst="rect">
            <a:avLst/>
          </a:prstGeom>
          <a:solidFill>
            <a:srgbClr val="C46E7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6"/>
          <p:cNvSpPr txBox="1"/>
          <p:nvPr/>
        </p:nvSpPr>
        <p:spPr>
          <a:xfrm>
            <a:off x="2910404" y="256032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4A1018"/>
                </a:solidFill>
                <a:latin typeface="Calibri"/>
                <a:ea typeface="Calibri"/>
                <a:cs typeface="Calibri"/>
                <a:sym typeface="Calibri"/>
              </a:rPr>
              <a:t>7.8%</a:t>
            </a:r>
            <a:endParaRPr/>
          </a:p>
        </p:txBody>
      </p:sp>
      <p:sp>
        <p:nvSpPr>
          <p:cNvPr id="261" name="Google Shape;261;p16"/>
          <p:cNvSpPr/>
          <p:nvPr/>
        </p:nvSpPr>
        <p:spPr>
          <a:xfrm>
            <a:off x="365760" y="2871215"/>
            <a:ext cx="1417320" cy="274320"/>
          </a:xfrm>
          <a:prstGeom prst="rect">
            <a:avLst/>
          </a:prstGeom>
          <a:solidFill>
            <a:srgbClr val="FDFAF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6"/>
          <p:cNvSpPr txBox="1"/>
          <p:nvPr/>
        </p:nvSpPr>
        <p:spPr>
          <a:xfrm>
            <a:off x="384048" y="2871215"/>
            <a:ext cx="13898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Chlorides</a:t>
            </a:r>
            <a:endParaRPr/>
          </a:p>
        </p:txBody>
      </p:sp>
      <p:sp>
        <p:nvSpPr>
          <p:cNvPr id="263" name="Google Shape;263;p16"/>
          <p:cNvSpPr/>
          <p:nvPr/>
        </p:nvSpPr>
        <p:spPr>
          <a:xfrm>
            <a:off x="1801368" y="2907791"/>
            <a:ext cx="937846" cy="201168"/>
          </a:xfrm>
          <a:prstGeom prst="rect">
            <a:avLst/>
          </a:prstGeom>
          <a:solidFill>
            <a:srgbClr val="C46E7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6"/>
          <p:cNvSpPr txBox="1"/>
          <p:nvPr/>
        </p:nvSpPr>
        <p:spPr>
          <a:xfrm>
            <a:off x="2803222" y="2871215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4A1018"/>
                </a:solidFill>
                <a:latin typeface="Calibri"/>
                <a:ea typeface="Calibri"/>
                <a:cs typeface="Calibri"/>
                <a:sym typeface="Calibri"/>
              </a:rPr>
              <a:t>7.0%</a:t>
            </a:r>
            <a:endParaRPr/>
          </a:p>
        </p:txBody>
      </p:sp>
      <p:sp>
        <p:nvSpPr>
          <p:cNvPr id="265" name="Google Shape;265;p16"/>
          <p:cNvSpPr/>
          <p:nvPr/>
        </p:nvSpPr>
        <p:spPr>
          <a:xfrm>
            <a:off x="365760" y="3182111"/>
            <a:ext cx="1417320" cy="274320"/>
          </a:xfrm>
          <a:prstGeom prst="rect">
            <a:avLst/>
          </a:prstGeom>
          <a:solidFill>
            <a:srgbClr val="FDFAF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6"/>
          <p:cNvSpPr txBox="1"/>
          <p:nvPr/>
        </p:nvSpPr>
        <p:spPr>
          <a:xfrm>
            <a:off x="384048" y="3182111"/>
            <a:ext cx="13898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pH</a:t>
            </a:r>
            <a:endParaRPr/>
          </a:p>
        </p:txBody>
      </p:sp>
      <p:sp>
        <p:nvSpPr>
          <p:cNvPr id="267" name="Google Shape;267;p16"/>
          <p:cNvSpPr/>
          <p:nvPr/>
        </p:nvSpPr>
        <p:spPr>
          <a:xfrm>
            <a:off x="1801368" y="3218687"/>
            <a:ext cx="817265" cy="201168"/>
          </a:xfrm>
          <a:prstGeom prst="rect">
            <a:avLst/>
          </a:prstGeom>
          <a:solidFill>
            <a:srgbClr val="E8E0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6"/>
          <p:cNvSpPr txBox="1"/>
          <p:nvPr/>
        </p:nvSpPr>
        <p:spPr>
          <a:xfrm>
            <a:off x="2682641" y="3182111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4A1018"/>
                </a:solidFill>
                <a:latin typeface="Calibri"/>
                <a:ea typeface="Calibri"/>
                <a:cs typeface="Calibri"/>
                <a:sym typeface="Calibri"/>
              </a:rPr>
              <a:t>6.1%</a:t>
            </a:r>
            <a:endParaRPr/>
          </a:p>
        </p:txBody>
      </p:sp>
      <p:sp>
        <p:nvSpPr>
          <p:cNvPr id="269" name="Google Shape;269;p16"/>
          <p:cNvSpPr/>
          <p:nvPr/>
        </p:nvSpPr>
        <p:spPr>
          <a:xfrm>
            <a:off x="365760" y="3493007"/>
            <a:ext cx="1417320" cy="274320"/>
          </a:xfrm>
          <a:prstGeom prst="rect">
            <a:avLst/>
          </a:prstGeom>
          <a:solidFill>
            <a:srgbClr val="FDFAF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6"/>
          <p:cNvSpPr txBox="1"/>
          <p:nvPr/>
        </p:nvSpPr>
        <p:spPr>
          <a:xfrm>
            <a:off x="384048" y="3493007"/>
            <a:ext cx="13898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Residual Sugar</a:t>
            </a:r>
            <a:endParaRPr/>
          </a:p>
        </p:txBody>
      </p:sp>
      <p:sp>
        <p:nvSpPr>
          <p:cNvPr id="271" name="Google Shape;271;p16"/>
          <p:cNvSpPr/>
          <p:nvPr/>
        </p:nvSpPr>
        <p:spPr>
          <a:xfrm>
            <a:off x="1801368" y="3529583"/>
            <a:ext cx="777072" cy="201168"/>
          </a:xfrm>
          <a:prstGeom prst="rect">
            <a:avLst/>
          </a:prstGeom>
          <a:solidFill>
            <a:srgbClr val="E8E0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6"/>
          <p:cNvSpPr txBox="1"/>
          <p:nvPr/>
        </p:nvSpPr>
        <p:spPr>
          <a:xfrm>
            <a:off x="2642448" y="3493007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4A1018"/>
                </a:solidFill>
                <a:latin typeface="Calibri"/>
                <a:ea typeface="Calibri"/>
                <a:cs typeface="Calibri"/>
                <a:sym typeface="Calibri"/>
              </a:rPr>
              <a:t>5.8%</a:t>
            </a:r>
            <a:endParaRPr/>
          </a:p>
        </p:txBody>
      </p:sp>
      <p:sp>
        <p:nvSpPr>
          <p:cNvPr id="273" name="Google Shape;273;p16"/>
          <p:cNvSpPr/>
          <p:nvPr/>
        </p:nvSpPr>
        <p:spPr>
          <a:xfrm>
            <a:off x="365760" y="3803903"/>
            <a:ext cx="1417320" cy="274320"/>
          </a:xfrm>
          <a:prstGeom prst="rect">
            <a:avLst/>
          </a:prstGeom>
          <a:solidFill>
            <a:srgbClr val="FDFAF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6"/>
          <p:cNvSpPr txBox="1"/>
          <p:nvPr/>
        </p:nvSpPr>
        <p:spPr>
          <a:xfrm>
            <a:off x="384048" y="3803903"/>
            <a:ext cx="13898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Density</a:t>
            </a:r>
            <a:endParaRPr/>
          </a:p>
        </p:txBody>
      </p:sp>
      <p:sp>
        <p:nvSpPr>
          <p:cNvPr id="275" name="Google Shape;275;p16"/>
          <p:cNvSpPr/>
          <p:nvPr/>
        </p:nvSpPr>
        <p:spPr>
          <a:xfrm>
            <a:off x="1801368" y="3840479"/>
            <a:ext cx="696685" cy="201168"/>
          </a:xfrm>
          <a:prstGeom prst="rect">
            <a:avLst/>
          </a:prstGeom>
          <a:solidFill>
            <a:srgbClr val="E8E0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6"/>
          <p:cNvSpPr txBox="1"/>
          <p:nvPr/>
        </p:nvSpPr>
        <p:spPr>
          <a:xfrm>
            <a:off x="2562061" y="3803903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4A1018"/>
                </a:solidFill>
                <a:latin typeface="Calibri"/>
                <a:ea typeface="Calibri"/>
                <a:cs typeface="Calibri"/>
                <a:sym typeface="Calibri"/>
              </a:rPr>
              <a:t>5.2%</a:t>
            </a:r>
            <a:endParaRPr/>
          </a:p>
        </p:txBody>
      </p:sp>
      <p:sp>
        <p:nvSpPr>
          <p:cNvPr id="277" name="Google Shape;277;p16"/>
          <p:cNvSpPr/>
          <p:nvPr/>
        </p:nvSpPr>
        <p:spPr>
          <a:xfrm>
            <a:off x="365760" y="4114799"/>
            <a:ext cx="1417320" cy="274320"/>
          </a:xfrm>
          <a:prstGeom prst="rect">
            <a:avLst/>
          </a:prstGeom>
          <a:solidFill>
            <a:srgbClr val="FDFAF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6"/>
          <p:cNvSpPr txBox="1"/>
          <p:nvPr/>
        </p:nvSpPr>
        <p:spPr>
          <a:xfrm>
            <a:off x="384048" y="4114799"/>
            <a:ext cx="13898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Fixed Acidity</a:t>
            </a:r>
            <a:endParaRPr/>
          </a:p>
        </p:txBody>
      </p:sp>
      <p:sp>
        <p:nvSpPr>
          <p:cNvPr id="279" name="Google Shape;279;p16"/>
          <p:cNvSpPr/>
          <p:nvPr/>
        </p:nvSpPr>
        <p:spPr>
          <a:xfrm>
            <a:off x="1801368" y="4151375"/>
            <a:ext cx="696685" cy="201168"/>
          </a:xfrm>
          <a:prstGeom prst="rect">
            <a:avLst/>
          </a:prstGeom>
          <a:solidFill>
            <a:srgbClr val="E8E0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6"/>
          <p:cNvSpPr txBox="1"/>
          <p:nvPr/>
        </p:nvSpPr>
        <p:spPr>
          <a:xfrm>
            <a:off x="2562061" y="4114799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4A1018"/>
                </a:solidFill>
                <a:latin typeface="Calibri"/>
                <a:ea typeface="Calibri"/>
                <a:cs typeface="Calibri"/>
                <a:sym typeface="Calibri"/>
              </a:rPr>
              <a:t>5.2%</a:t>
            </a:r>
            <a:endParaRPr/>
          </a:p>
        </p:txBody>
      </p:sp>
      <p:sp>
        <p:nvSpPr>
          <p:cNvPr id="281" name="Google Shape;281;p16"/>
          <p:cNvSpPr/>
          <p:nvPr/>
        </p:nvSpPr>
        <p:spPr>
          <a:xfrm>
            <a:off x="365760" y="4425695"/>
            <a:ext cx="1417320" cy="274320"/>
          </a:xfrm>
          <a:prstGeom prst="rect">
            <a:avLst/>
          </a:prstGeom>
          <a:solidFill>
            <a:srgbClr val="FDFAF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6"/>
          <p:cNvSpPr txBox="1"/>
          <p:nvPr/>
        </p:nvSpPr>
        <p:spPr>
          <a:xfrm>
            <a:off x="384048" y="4425695"/>
            <a:ext cx="13898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Citric Acid</a:t>
            </a:r>
            <a:endParaRPr/>
          </a:p>
        </p:txBody>
      </p:sp>
      <p:sp>
        <p:nvSpPr>
          <p:cNvPr id="283" name="Google Shape;283;p16"/>
          <p:cNvSpPr/>
          <p:nvPr/>
        </p:nvSpPr>
        <p:spPr>
          <a:xfrm>
            <a:off x="1801368" y="4462271"/>
            <a:ext cx="656492" cy="201168"/>
          </a:xfrm>
          <a:prstGeom prst="rect">
            <a:avLst/>
          </a:prstGeom>
          <a:solidFill>
            <a:srgbClr val="E8E0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6"/>
          <p:cNvSpPr txBox="1"/>
          <p:nvPr/>
        </p:nvSpPr>
        <p:spPr>
          <a:xfrm>
            <a:off x="2521868" y="4425695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4A1018"/>
                </a:solidFill>
                <a:latin typeface="Calibri"/>
                <a:ea typeface="Calibri"/>
                <a:cs typeface="Calibri"/>
                <a:sym typeface="Calibri"/>
              </a:rPr>
              <a:t>4.9%</a:t>
            </a:r>
            <a:endParaRPr/>
          </a:p>
        </p:txBody>
      </p:sp>
      <p:sp>
        <p:nvSpPr>
          <p:cNvPr id="285" name="Google Shape;285;p16"/>
          <p:cNvSpPr/>
          <p:nvPr/>
        </p:nvSpPr>
        <p:spPr>
          <a:xfrm>
            <a:off x="365760" y="4736591"/>
            <a:ext cx="1417320" cy="274320"/>
          </a:xfrm>
          <a:prstGeom prst="rect">
            <a:avLst/>
          </a:prstGeom>
          <a:solidFill>
            <a:srgbClr val="FDFAF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6"/>
          <p:cNvSpPr txBox="1"/>
          <p:nvPr/>
        </p:nvSpPr>
        <p:spPr>
          <a:xfrm>
            <a:off x="384048" y="4736591"/>
            <a:ext cx="13898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Free SO₂</a:t>
            </a:r>
            <a:endParaRPr/>
          </a:p>
        </p:txBody>
      </p:sp>
      <p:sp>
        <p:nvSpPr>
          <p:cNvPr id="287" name="Google Shape;287;p16"/>
          <p:cNvSpPr/>
          <p:nvPr/>
        </p:nvSpPr>
        <p:spPr>
          <a:xfrm>
            <a:off x="1801368" y="4773167"/>
            <a:ext cx="629696" cy="201168"/>
          </a:xfrm>
          <a:prstGeom prst="rect">
            <a:avLst/>
          </a:prstGeom>
          <a:solidFill>
            <a:srgbClr val="E8E0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6"/>
          <p:cNvSpPr txBox="1"/>
          <p:nvPr/>
        </p:nvSpPr>
        <p:spPr>
          <a:xfrm>
            <a:off x="2495072" y="4736591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4A1018"/>
                </a:solidFill>
                <a:latin typeface="Calibri"/>
                <a:ea typeface="Calibri"/>
                <a:cs typeface="Calibri"/>
                <a:sym typeface="Calibri"/>
              </a:rPr>
              <a:t>4.7%</a:t>
            </a:r>
            <a:endParaRPr/>
          </a:p>
        </p:txBody>
      </p:sp>
      <p:sp>
        <p:nvSpPr>
          <p:cNvPr id="289" name="Google Shape;289;p16"/>
          <p:cNvSpPr/>
          <p:nvPr/>
        </p:nvSpPr>
        <p:spPr>
          <a:xfrm>
            <a:off x="6035040" y="1143000"/>
            <a:ext cx="36576" cy="5486400"/>
          </a:xfrm>
          <a:prstGeom prst="rect">
            <a:avLst/>
          </a:prstGeom>
          <a:solidFill>
            <a:srgbClr val="E8E0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6"/>
          <p:cNvSpPr/>
          <p:nvPr/>
        </p:nvSpPr>
        <p:spPr>
          <a:xfrm>
            <a:off x="6217920" y="1188720"/>
            <a:ext cx="5577840" cy="347472"/>
          </a:xfrm>
          <a:prstGeom prst="rect">
            <a:avLst/>
          </a:prstGeom>
          <a:solidFill>
            <a:srgbClr val="4A101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6"/>
          <p:cNvSpPr txBox="1"/>
          <p:nvPr/>
        </p:nvSpPr>
        <p:spPr>
          <a:xfrm>
            <a:off x="6217920" y="1188720"/>
            <a:ext cx="5577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HIGH vs. LOW QUALITY WINE PROFILE</a:t>
            </a:r>
            <a:endParaRPr/>
          </a:p>
        </p:txBody>
      </p:sp>
      <p:sp>
        <p:nvSpPr>
          <p:cNvPr id="292" name="Google Shape;292;p16"/>
          <p:cNvSpPr/>
          <p:nvPr/>
        </p:nvSpPr>
        <p:spPr>
          <a:xfrm>
            <a:off x="6217920" y="1572768"/>
            <a:ext cx="2011680" cy="274320"/>
          </a:xfrm>
          <a:prstGeom prst="rect">
            <a:avLst/>
          </a:prstGeom>
          <a:solidFill>
            <a:srgbClr val="F7F0E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6"/>
          <p:cNvSpPr txBox="1"/>
          <p:nvPr/>
        </p:nvSpPr>
        <p:spPr>
          <a:xfrm>
            <a:off x="6263640" y="157276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A1018"/>
                </a:solidFill>
                <a:latin typeface="Calibri"/>
                <a:ea typeface="Calibri"/>
                <a:cs typeface="Calibri"/>
                <a:sym typeface="Calibri"/>
              </a:rPr>
              <a:t>Feature</a:t>
            </a:r>
            <a:endParaRPr/>
          </a:p>
        </p:txBody>
      </p:sp>
      <p:sp>
        <p:nvSpPr>
          <p:cNvPr id="294" name="Google Shape;294;p16"/>
          <p:cNvSpPr/>
          <p:nvPr/>
        </p:nvSpPr>
        <p:spPr>
          <a:xfrm>
            <a:off x="8275320" y="1572768"/>
            <a:ext cx="1600200" cy="274320"/>
          </a:xfrm>
          <a:prstGeom prst="rect">
            <a:avLst/>
          </a:prstGeom>
          <a:solidFill>
            <a:srgbClr val="7B1F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6"/>
          <p:cNvSpPr txBox="1"/>
          <p:nvPr/>
        </p:nvSpPr>
        <p:spPr>
          <a:xfrm>
            <a:off x="8275320" y="1572768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 Quality (7–8)</a:t>
            </a:r>
            <a:endParaRPr/>
          </a:p>
        </p:txBody>
      </p:sp>
      <p:sp>
        <p:nvSpPr>
          <p:cNvPr id="296" name="Google Shape;296;p16"/>
          <p:cNvSpPr/>
          <p:nvPr/>
        </p:nvSpPr>
        <p:spPr>
          <a:xfrm>
            <a:off x="9921240" y="1572768"/>
            <a:ext cx="1417320" cy="274320"/>
          </a:xfrm>
          <a:prstGeom prst="rect">
            <a:avLst/>
          </a:prstGeom>
          <a:solidFill>
            <a:srgbClr val="E8E0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6"/>
          <p:cNvSpPr txBox="1"/>
          <p:nvPr/>
        </p:nvSpPr>
        <p:spPr>
          <a:xfrm>
            <a:off x="9921240" y="1572768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Low Quality (3–5)</a:t>
            </a:r>
            <a:endParaRPr/>
          </a:p>
        </p:txBody>
      </p:sp>
      <p:sp>
        <p:nvSpPr>
          <p:cNvPr id="298" name="Google Shape;298;p16"/>
          <p:cNvSpPr/>
          <p:nvPr/>
        </p:nvSpPr>
        <p:spPr>
          <a:xfrm>
            <a:off x="11384280" y="1572768"/>
            <a:ext cx="594360" cy="274320"/>
          </a:xfrm>
          <a:prstGeom prst="rect">
            <a:avLst/>
          </a:prstGeom>
          <a:solidFill>
            <a:srgbClr val="F7F0E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6"/>
          <p:cNvSpPr txBox="1"/>
          <p:nvPr/>
        </p:nvSpPr>
        <p:spPr>
          <a:xfrm>
            <a:off x="11384280" y="1572768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A1018"/>
                </a:solidFill>
                <a:latin typeface="Calibri"/>
                <a:ea typeface="Calibri"/>
                <a:cs typeface="Calibri"/>
                <a:sym typeface="Calibri"/>
              </a:rPr>
              <a:t>  Δ</a:t>
            </a:r>
            <a:endParaRPr/>
          </a:p>
        </p:txBody>
      </p:sp>
      <p:sp>
        <p:nvSpPr>
          <p:cNvPr id="300" name="Google Shape;300;p16"/>
          <p:cNvSpPr/>
          <p:nvPr/>
        </p:nvSpPr>
        <p:spPr>
          <a:xfrm>
            <a:off x="6217920" y="1892807"/>
            <a:ext cx="2011680" cy="384048"/>
          </a:xfrm>
          <a:prstGeom prst="rect">
            <a:avLst/>
          </a:prstGeom>
          <a:solidFill>
            <a:srgbClr val="F7F0E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6"/>
          <p:cNvSpPr txBox="1"/>
          <p:nvPr/>
        </p:nvSpPr>
        <p:spPr>
          <a:xfrm>
            <a:off x="6263640" y="1938527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Alcohol (%)</a:t>
            </a:r>
            <a:endParaRPr/>
          </a:p>
        </p:txBody>
      </p:sp>
      <p:sp>
        <p:nvSpPr>
          <p:cNvPr id="302" name="Google Shape;302;p16"/>
          <p:cNvSpPr/>
          <p:nvPr/>
        </p:nvSpPr>
        <p:spPr>
          <a:xfrm>
            <a:off x="8275320" y="1892807"/>
            <a:ext cx="1600200" cy="384048"/>
          </a:xfrm>
          <a:prstGeom prst="rect">
            <a:avLst/>
          </a:prstGeom>
          <a:solidFill>
            <a:srgbClr val="F7F0E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6"/>
          <p:cNvSpPr txBox="1"/>
          <p:nvPr/>
        </p:nvSpPr>
        <p:spPr>
          <a:xfrm>
            <a:off x="8275320" y="1938527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7B1F2A"/>
                </a:solidFill>
                <a:latin typeface="Calibri"/>
                <a:ea typeface="Calibri"/>
                <a:cs typeface="Calibri"/>
                <a:sym typeface="Calibri"/>
              </a:rPr>
              <a:t>11.52</a:t>
            </a:r>
            <a:endParaRPr/>
          </a:p>
        </p:txBody>
      </p:sp>
      <p:sp>
        <p:nvSpPr>
          <p:cNvPr id="304" name="Google Shape;304;p16"/>
          <p:cNvSpPr/>
          <p:nvPr/>
        </p:nvSpPr>
        <p:spPr>
          <a:xfrm>
            <a:off x="9921240" y="1892807"/>
            <a:ext cx="1417320" cy="384048"/>
          </a:xfrm>
          <a:prstGeom prst="rect">
            <a:avLst/>
          </a:prstGeom>
          <a:solidFill>
            <a:srgbClr val="F7F0E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6"/>
          <p:cNvSpPr txBox="1"/>
          <p:nvPr/>
        </p:nvSpPr>
        <p:spPr>
          <a:xfrm>
            <a:off x="9921240" y="1938527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9.93</a:t>
            </a:r>
            <a:endParaRPr/>
          </a:p>
        </p:txBody>
      </p:sp>
      <p:sp>
        <p:nvSpPr>
          <p:cNvPr id="306" name="Google Shape;306;p16"/>
          <p:cNvSpPr/>
          <p:nvPr/>
        </p:nvSpPr>
        <p:spPr>
          <a:xfrm>
            <a:off x="11384280" y="1892807"/>
            <a:ext cx="594360" cy="384048"/>
          </a:xfrm>
          <a:prstGeom prst="rect">
            <a:avLst/>
          </a:prstGeom>
          <a:solidFill>
            <a:srgbClr val="F7F0E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6"/>
          <p:cNvSpPr txBox="1"/>
          <p:nvPr/>
        </p:nvSpPr>
        <p:spPr>
          <a:xfrm>
            <a:off x="11384280" y="1938527"/>
            <a:ext cx="594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2D7D46"/>
                </a:solidFill>
                <a:latin typeface="Calibri"/>
                <a:ea typeface="Calibri"/>
                <a:cs typeface="Calibri"/>
                <a:sym typeface="Calibri"/>
              </a:rPr>
              <a:t>+1.59</a:t>
            </a:r>
            <a:endParaRPr/>
          </a:p>
        </p:txBody>
      </p:sp>
      <p:sp>
        <p:nvSpPr>
          <p:cNvPr id="308" name="Google Shape;308;p16"/>
          <p:cNvSpPr/>
          <p:nvPr/>
        </p:nvSpPr>
        <p:spPr>
          <a:xfrm>
            <a:off x="6217920" y="2286000"/>
            <a:ext cx="20116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6"/>
          <p:cNvSpPr txBox="1"/>
          <p:nvPr/>
        </p:nvSpPr>
        <p:spPr>
          <a:xfrm>
            <a:off x="6263640" y="233172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Volatile Acidity (g/L)</a:t>
            </a:r>
            <a:endParaRPr/>
          </a:p>
        </p:txBody>
      </p:sp>
      <p:sp>
        <p:nvSpPr>
          <p:cNvPr id="310" name="Google Shape;310;p16"/>
          <p:cNvSpPr/>
          <p:nvPr/>
        </p:nvSpPr>
        <p:spPr>
          <a:xfrm>
            <a:off x="8275320" y="2286000"/>
            <a:ext cx="16002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6"/>
          <p:cNvSpPr txBox="1"/>
          <p:nvPr/>
        </p:nvSpPr>
        <p:spPr>
          <a:xfrm>
            <a:off x="8275320" y="2331720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7B1F2A"/>
                </a:solidFill>
                <a:latin typeface="Calibri"/>
                <a:ea typeface="Calibri"/>
                <a:cs typeface="Calibri"/>
                <a:sym typeface="Calibri"/>
              </a:rPr>
              <a:t>0.41</a:t>
            </a:r>
            <a:endParaRPr/>
          </a:p>
        </p:txBody>
      </p:sp>
      <p:sp>
        <p:nvSpPr>
          <p:cNvPr id="312" name="Google Shape;312;p16"/>
          <p:cNvSpPr/>
          <p:nvPr/>
        </p:nvSpPr>
        <p:spPr>
          <a:xfrm>
            <a:off x="9921240" y="2286000"/>
            <a:ext cx="14173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6"/>
          <p:cNvSpPr txBox="1"/>
          <p:nvPr/>
        </p:nvSpPr>
        <p:spPr>
          <a:xfrm>
            <a:off x="9921240" y="2331720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0.59</a:t>
            </a:r>
            <a:endParaRPr/>
          </a:p>
        </p:txBody>
      </p:sp>
      <p:sp>
        <p:nvSpPr>
          <p:cNvPr id="314" name="Google Shape;314;p16"/>
          <p:cNvSpPr/>
          <p:nvPr/>
        </p:nvSpPr>
        <p:spPr>
          <a:xfrm>
            <a:off x="11384280" y="2286000"/>
            <a:ext cx="59436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6"/>
          <p:cNvSpPr txBox="1"/>
          <p:nvPr/>
        </p:nvSpPr>
        <p:spPr>
          <a:xfrm>
            <a:off x="11384280" y="2331720"/>
            <a:ext cx="594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−0.18</a:t>
            </a:r>
            <a:endParaRPr/>
          </a:p>
        </p:txBody>
      </p:sp>
      <p:sp>
        <p:nvSpPr>
          <p:cNvPr id="316" name="Google Shape;316;p16"/>
          <p:cNvSpPr/>
          <p:nvPr/>
        </p:nvSpPr>
        <p:spPr>
          <a:xfrm>
            <a:off x="6217920" y="2679192"/>
            <a:ext cx="2011680" cy="384048"/>
          </a:xfrm>
          <a:prstGeom prst="rect">
            <a:avLst/>
          </a:prstGeom>
          <a:solidFill>
            <a:srgbClr val="F7F0E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6"/>
          <p:cNvSpPr txBox="1"/>
          <p:nvPr/>
        </p:nvSpPr>
        <p:spPr>
          <a:xfrm>
            <a:off x="6263640" y="2724912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Sulphates (g/L)</a:t>
            </a:r>
            <a:endParaRPr/>
          </a:p>
        </p:txBody>
      </p:sp>
      <p:sp>
        <p:nvSpPr>
          <p:cNvPr id="318" name="Google Shape;318;p16"/>
          <p:cNvSpPr/>
          <p:nvPr/>
        </p:nvSpPr>
        <p:spPr>
          <a:xfrm>
            <a:off x="8275320" y="2679192"/>
            <a:ext cx="1600200" cy="384048"/>
          </a:xfrm>
          <a:prstGeom prst="rect">
            <a:avLst/>
          </a:prstGeom>
          <a:solidFill>
            <a:srgbClr val="F7F0E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6"/>
          <p:cNvSpPr txBox="1"/>
          <p:nvPr/>
        </p:nvSpPr>
        <p:spPr>
          <a:xfrm>
            <a:off x="8275320" y="2724912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7B1F2A"/>
                </a:solidFill>
                <a:latin typeface="Calibri"/>
                <a:ea typeface="Calibri"/>
                <a:cs typeface="Calibri"/>
                <a:sym typeface="Calibri"/>
              </a:rPr>
              <a:t>0.74</a:t>
            </a:r>
            <a:endParaRPr/>
          </a:p>
        </p:txBody>
      </p:sp>
      <p:sp>
        <p:nvSpPr>
          <p:cNvPr id="320" name="Google Shape;320;p16"/>
          <p:cNvSpPr/>
          <p:nvPr/>
        </p:nvSpPr>
        <p:spPr>
          <a:xfrm>
            <a:off x="9921240" y="2679192"/>
            <a:ext cx="1417320" cy="384048"/>
          </a:xfrm>
          <a:prstGeom prst="rect">
            <a:avLst/>
          </a:prstGeom>
          <a:solidFill>
            <a:srgbClr val="F7F0E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6"/>
          <p:cNvSpPr txBox="1"/>
          <p:nvPr/>
        </p:nvSpPr>
        <p:spPr>
          <a:xfrm>
            <a:off x="9921240" y="2724912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0.62</a:t>
            </a:r>
            <a:endParaRPr/>
          </a:p>
        </p:txBody>
      </p:sp>
      <p:sp>
        <p:nvSpPr>
          <p:cNvPr id="322" name="Google Shape;322;p16"/>
          <p:cNvSpPr/>
          <p:nvPr/>
        </p:nvSpPr>
        <p:spPr>
          <a:xfrm>
            <a:off x="11384280" y="2679192"/>
            <a:ext cx="594360" cy="384048"/>
          </a:xfrm>
          <a:prstGeom prst="rect">
            <a:avLst/>
          </a:prstGeom>
          <a:solidFill>
            <a:srgbClr val="F7F0E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6"/>
          <p:cNvSpPr txBox="1"/>
          <p:nvPr/>
        </p:nvSpPr>
        <p:spPr>
          <a:xfrm>
            <a:off x="11384280" y="2724912"/>
            <a:ext cx="594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2D7D46"/>
                </a:solidFill>
                <a:latin typeface="Calibri"/>
                <a:ea typeface="Calibri"/>
                <a:cs typeface="Calibri"/>
                <a:sym typeface="Calibri"/>
              </a:rPr>
              <a:t>+0.12</a:t>
            </a:r>
            <a:endParaRPr/>
          </a:p>
        </p:txBody>
      </p:sp>
      <p:sp>
        <p:nvSpPr>
          <p:cNvPr id="324" name="Google Shape;324;p16"/>
          <p:cNvSpPr/>
          <p:nvPr/>
        </p:nvSpPr>
        <p:spPr>
          <a:xfrm>
            <a:off x="6217920" y="3072384"/>
            <a:ext cx="20116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6"/>
          <p:cNvSpPr txBox="1"/>
          <p:nvPr/>
        </p:nvSpPr>
        <p:spPr>
          <a:xfrm>
            <a:off x="6263640" y="3118104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Citric Acid (g/L)</a:t>
            </a:r>
            <a:endParaRPr/>
          </a:p>
        </p:txBody>
      </p:sp>
      <p:sp>
        <p:nvSpPr>
          <p:cNvPr id="326" name="Google Shape;326;p16"/>
          <p:cNvSpPr/>
          <p:nvPr/>
        </p:nvSpPr>
        <p:spPr>
          <a:xfrm>
            <a:off x="8275320" y="3072384"/>
            <a:ext cx="16002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6"/>
          <p:cNvSpPr txBox="1"/>
          <p:nvPr/>
        </p:nvSpPr>
        <p:spPr>
          <a:xfrm>
            <a:off x="8275320" y="3118104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7B1F2A"/>
                </a:solidFill>
                <a:latin typeface="Calibri"/>
                <a:ea typeface="Calibri"/>
                <a:cs typeface="Calibri"/>
                <a:sym typeface="Calibri"/>
              </a:rPr>
              <a:t>0.38</a:t>
            </a:r>
            <a:endParaRPr/>
          </a:p>
        </p:txBody>
      </p:sp>
      <p:sp>
        <p:nvSpPr>
          <p:cNvPr id="328" name="Google Shape;328;p16"/>
          <p:cNvSpPr/>
          <p:nvPr/>
        </p:nvSpPr>
        <p:spPr>
          <a:xfrm>
            <a:off x="9921240" y="3072384"/>
            <a:ext cx="14173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6"/>
          <p:cNvSpPr txBox="1"/>
          <p:nvPr/>
        </p:nvSpPr>
        <p:spPr>
          <a:xfrm>
            <a:off x="9921240" y="3118104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0.24</a:t>
            </a:r>
            <a:endParaRPr/>
          </a:p>
        </p:txBody>
      </p:sp>
      <p:sp>
        <p:nvSpPr>
          <p:cNvPr id="330" name="Google Shape;330;p16"/>
          <p:cNvSpPr/>
          <p:nvPr/>
        </p:nvSpPr>
        <p:spPr>
          <a:xfrm>
            <a:off x="11384280" y="3072384"/>
            <a:ext cx="59436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6"/>
          <p:cNvSpPr txBox="1"/>
          <p:nvPr/>
        </p:nvSpPr>
        <p:spPr>
          <a:xfrm>
            <a:off x="11384280" y="3118104"/>
            <a:ext cx="594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2D7D46"/>
                </a:solidFill>
                <a:latin typeface="Calibri"/>
                <a:ea typeface="Calibri"/>
                <a:cs typeface="Calibri"/>
                <a:sym typeface="Calibri"/>
              </a:rPr>
              <a:t>+0.14</a:t>
            </a:r>
            <a:endParaRPr/>
          </a:p>
        </p:txBody>
      </p:sp>
      <p:sp>
        <p:nvSpPr>
          <p:cNvPr id="332" name="Google Shape;332;p16"/>
          <p:cNvSpPr/>
          <p:nvPr/>
        </p:nvSpPr>
        <p:spPr>
          <a:xfrm>
            <a:off x="6217920" y="3465576"/>
            <a:ext cx="2011680" cy="384048"/>
          </a:xfrm>
          <a:prstGeom prst="rect">
            <a:avLst/>
          </a:prstGeom>
          <a:solidFill>
            <a:srgbClr val="F7F0E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6"/>
          <p:cNvSpPr txBox="1"/>
          <p:nvPr/>
        </p:nvSpPr>
        <p:spPr>
          <a:xfrm>
            <a:off x="6263640" y="3511296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Total SO₂ (mg/L)</a:t>
            </a:r>
            <a:endParaRPr/>
          </a:p>
        </p:txBody>
      </p:sp>
      <p:sp>
        <p:nvSpPr>
          <p:cNvPr id="334" name="Google Shape;334;p16"/>
          <p:cNvSpPr/>
          <p:nvPr/>
        </p:nvSpPr>
        <p:spPr>
          <a:xfrm>
            <a:off x="8275320" y="3465576"/>
            <a:ext cx="1600200" cy="384048"/>
          </a:xfrm>
          <a:prstGeom prst="rect">
            <a:avLst/>
          </a:prstGeom>
          <a:solidFill>
            <a:srgbClr val="F7F0E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6"/>
          <p:cNvSpPr txBox="1"/>
          <p:nvPr/>
        </p:nvSpPr>
        <p:spPr>
          <a:xfrm>
            <a:off x="8275320" y="3511296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7B1F2A"/>
                </a:solidFill>
                <a:latin typeface="Calibri"/>
                <a:ea typeface="Calibri"/>
                <a:cs typeface="Calibri"/>
                <a:sym typeface="Calibri"/>
              </a:rPr>
              <a:t>34.9</a:t>
            </a:r>
            <a:endParaRPr/>
          </a:p>
        </p:txBody>
      </p:sp>
      <p:sp>
        <p:nvSpPr>
          <p:cNvPr id="336" name="Google Shape;336;p16"/>
          <p:cNvSpPr/>
          <p:nvPr/>
        </p:nvSpPr>
        <p:spPr>
          <a:xfrm>
            <a:off x="9921240" y="3465576"/>
            <a:ext cx="1417320" cy="384048"/>
          </a:xfrm>
          <a:prstGeom prst="rect">
            <a:avLst/>
          </a:prstGeom>
          <a:solidFill>
            <a:srgbClr val="F7F0E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6"/>
          <p:cNvSpPr txBox="1"/>
          <p:nvPr/>
        </p:nvSpPr>
        <p:spPr>
          <a:xfrm>
            <a:off x="9921240" y="3511296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54.6</a:t>
            </a:r>
            <a:endParaRPr/>
          </a:p>
        </p:txBody>
      </p:sp>
      <p:sp>
        <p:nvSpPr>
          <p:cNvPr id="338" name="Google Shape;338;p16"/>
          <p:cNvSpPr/>
          <p:nvPr/>
        </p:nvSpPr>
        <p:spPr>
          <a:xfrm>
            <a:off x="11384280" y="3465576"/>
            <a:ext cx="594360" cy="384048"/>
          </a:xfrm>
          <a:prstGeom prst="rect">
            <a:avLst/>
          </a:prstGeom>
          <a:solidFill>
            <a:srgbClr val="F7F0E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6"/>
          <p:cNvSpPr txBox="1"/>
          <p:nvPr/>
        </p:nvSpPr>
        <p:spPr>
          <a:xfrm>
            <a:off x="11384280" y="3511296"/>
            <a:ext cx="594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2D7D46"/>
                </a:solidFill>
                <a:latin typeface="Calibri"/>
                <a:ea typeface="Calibri"/>
                <a:cs typeface="Calibri"/>
                <a:sym typeface="Calibri"/>
              </a:rPr>
              <a:t>−19.7</a:t>
            </a:r>
            <a:endParaRPr/>
          </a:p>
        </p:txBody>
      </p:sp>
      <p:sp>
        <p:nvSpPr>
          <p:cNvPr id="340" name="Google Shape;340;p16"/>
          <p:cNvSpPr/>
          <p:nvPr/>
        </p:nvSpPr>
        <p:spPr>
          <a:xfrm>
            <a:off x="6217920" y="3858768"/>
            <a:ext cx="20116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6"/>
          <p:cNvSpPr txBox="1"/>
          <p:nvPr/>
        </p:nvSpPr>
        <p:spPr>
          <a:xfrm>
            <a:off x="6263640" y="390448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Chlorides (g/L)</a:t>
            </a:r>
            <a:endParaRPr/>
          </a:p>
        </p:txBody>
      </p:sp>
      <p:sp>
        <p:nvSpPr>
          <p:cNvPr id="342" name="Google Shape;342;p16"/>
          <p:cNvSpPr/>
          <p:nvPr/>
        </p:nvSpPr>
        <p:spPr>
          <a:xfrm>
            <a:off x="8275320" y="3858768"/>
            <a:ext cx="16002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6"/>
          <p:cNvSpPr txBox="1"/>
          <p:nvPr/>
        </p:nvSpPr>
        <p:spPr>
          <a:xfrm>
            <a:off x="8275320" y="3904488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7B1F2A"/>
                </a:solidFill>
                <a:latin typeface="Calibri"/>
                <a:ea typeface="Calibri"/>
                <a:cs typeface="Calibri"/>
                <a:sym typeface="Calibri"/>
              </a:rPr>
              <a:t>0.076</a:t>
            </a:r>
            <a:endParaRPr/>
          </a:p>
        </p:txBody>
      </p:sp>
      <p:sp>
        <p:nvSpPr>
          <p:cNvPr id="344" name="Google Shape;344;p16"/>
          <p:cNvSpPr/>
          <p:nvPr/>
        </p:nvSpPr>
        <p:spPr>
          <a:xfrm>
            <a:off x="9921240" y="3858768"/>
            <a:ext cx="14173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6"/>
          <p:cNvSpPr txBox="1"/>
          <p:nvPr/>
        </p:nvSpPr>
        <p:spPr>
          <a:xfrm>
            <a:off x="9921240" y="3904488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0.093</a:t>
            </a:r>
            <a:endParaRPr/>
          </a:p>
        </p:txBody>
      </p:sp>
      <p:sp>
        <p:nvSpPr>
          <p:cNvPr id="346" name="Google Shape;346;p16"/>
          <p:cNvSpPr/>
          <p:nvPr/>
        </p:nvSpPr>
        <p:spPr>
          <a:xfrm>
            <a:off x="11384280" y="3858768"/>
            <a:ext cx="59436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6"/>
          <p:cNvSpPr txBox="1"/>
          <p:nvPr/>
        </p:nvSpPr>
        <p:spPr>
          <a:xfrm>
            <a:off x="11384280" y="3904488"/>
            <a:ext cx="594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2D7D46"/>
                </a:solidFill>
                <a:latin typeface="Calibri"/>
                <a:ea typeface="Calibri"/>
                <a:cs typeface="Calibri"/>
                <a:sym typeface="Calibri"/>
              </a:rPr>
              <a:t>−0.017</a:t>
            </a:r>
            <a:endParaRPr/>
          </a:p>
        </p:txBody>
      </p:sp>
      <p:sp>
        <p:nvSpPr>
          <p:cNvPr id="348" name="Google Shape;348;p16"/>
          <p:cNvSpPr/>
          <p:nvPr/>
        </p:nvSpPr>
        <p:spPr>
          <a:xfrm>
            <a:off x="6217920" y="4251960"/>
            <a:ext cx="2011680" cy="384048"/>
          </a:xfrm>
          <a:prstGeom prst="rect">
            <a:avLst/>
          </a:prstGeom>
          <a:solidFill>
            <a:srgbClr val="F7F0E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6"/>
          <p:cNvSpPr txBox="1"/>
          <p:nvPr/>
        </p:nvSpPr>
        <p:spPr>
          <a:xfrm>
            <a:off x="6263640" y="429768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pH</a:t>
            </a:r>
            <a:endParaRPr/>
          </a:p>
        </p:txBody>
      </p:sp>
      <p:sp>
        <p:nvSpPr>
          <p:cNvPr id="350" name="Google Shape;350;p16"/>
          <p:cNvSpPr/>
          <p:nvPr/>
        </p:nvSpPr>
        <p:spPr>
          <a:xfrm>
            <a:off x="8275320" y="4251960"/>
            <a:ext cx="1600200" cy="384048"/>
          </a:xfrm>
          <a:prstGeom prst="rect">
            <a:avLst/>
          </a:prstGeom>
          <a:solidFill>
            <a:srgbClr val="F7F0E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6"/>
          <p:cNvSpPr txBox="1"/>
          <p:nvPr/>
        </p:nvSpPr>
        <p:spPr>
          <a:xfrm>
            <a:off x="8275320" y="4297680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7B1F2A"/>
                </a:solidFill>
                <a:latin typeface="Calibri"/>
                <a:ea typeface="Calibri"/>
                <a:cs typeface="Calibri"/>
                <a:sym typeface="Calibri"/>
              </a:rPr>
              <a:t>3.29</a:t>
            </a:r>
            <a:endParaRPr/>
          </a:p>
        </p:txBody>
      </p:sp>
      <p:sp>
        <p:nvSpPr>
          <p:cNvPr id="352" name="Google Shape;352;p16"/>
          <p:cNvSpPr/>
          <p:nvPr/>
        </p:nvSpPr>
        <p:spPr>
          <a:xfrm>
            <a:off x="9921240" y="4251960"/>
            <a:ext cx="1417320" cy="384048"/>
          </a:xfrm>
          <a:prstGeom prst="rect">
            <a:avLst/>
          </a:prstGeom>
          <a:solidFill>
            <a:srgbClr val="F7F0E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6"/>
          <p:cNvSpPr txBox="1"/>
          <p:nvPr/>
        </p:nvSpPr>
        <p:spPr>
          <a:xfrm>
            <a:off x="9921240" y="4297680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3.31</a:t>
            </a:r>
            <a:endParaRPr/>
          </a:p>
        </p:txBody>
      </p:sp>
      <p:sp>
        <p:nvSpPr>
          <p:cNvPr id="354" name="Google Shape;354;p16"/>
          <p:cNvSpPr/>
          <p:nvPr/>
        </p:nvSpPr>
        <p:spPr>
          <a:xfrm>
            <a:off x="11384280" y="4251960"/>
            <a:ext cx="594360" cy="384048"/>
          </a:xfrm>
          <a:prstGeom prst="rect">
            <a:avLst/>
          </a:prstGeom>
          <a:solidFill>
            <a:srgbClr val="F7F0E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6"/>
          <p:cNvSpPr txBox="1"/>
          <p:nvPr/>
        </p:nvSpPr>
        <p:spPr>
          <a:xfrm>
            <a:off x="11384280" y="4297680"/>
            <a:ext cx="594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2D7D46"/>
                </a:solidFill>
                <a:latin typeface="Calibri"/>
                <a:ea typeface="Calibri"/>
                <a:cs typeface="Calibri"/>
                <a:sym typeface="Calibri"/>
              </a:rPr>
              <a:t>−0.02</a:t>
            </a:r>
            <a:endParaRPr/>
          </a:p>
        </p:txBody>
      </p:sp>
      <p:sp>
        <p:nvSpPr>
          <p:cNvPr id="356" name="Google Shape;356;p16"/>
          <p:cNvSpPr/>
          <p:nvPr/>
        </p:nvSpPr>
        <p:spPr>
          <a:xfrm>
            <a:off x="6217920" y="4645152"/>
            <a:ext cx="20116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6"/>
          <p:cNvSpPr txBox="1"/>
          <p:nvPr/>
        </p:nvSpPr>
        <p:spPr>
          <a:xfrm>
            <a:off x="6263640" y="4690872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Fixed Acidity (g/L)</a:t>
            </a:r>
            <a:endParaRPr/>
          </a:p>
        </p:txBody>
      </p:sp>
      <p:sp>
        <p:nvSpPr>
          <p:cNvPr id="358" name="Google Shape;358;p16"/>
          <p:cNvSpPr/>
          <p:nvPr/>
        </p:nvSpPr>
        <p:spPr>
          <a:xfrm>
            <a:off x="8275320" y="4645152"/>
            <a:ext cx="16002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6"/>
          <p:cNvSpPr txBox="1"/>
          <p:nvPr/>
        </p:nvSpPr>
        <p:spPr>
          <a:xfrm>
            <a:off x="8275320" y="4690872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7B1F2A"/>
                </a:solidFill>
                <a:latin typeface="Calibri"/>
                <a:ea typeface="Calibri"/>
                <a:cs typeface="Calibri"/>
                <a:sym typeface="Calibri"/>
              </a:rPr>
              <a:t>8.85</a:t>
            </a:r>
            <a:endParaRPr/>
          </a:p>
        </p:txBody>
      </p:sp>
      <p:sp>
        <p:nvSpPr>
          <p:cNvPr id="360" name="Google Shape;360;p16"/>
          <p:cNvSpPr/>
          <p:nvPr/>
        </p:nvSpPr>
        <p:spPr>
          <a:xfrm>
            <a:off x="9921240" y="4645152"/>
            <a:ext cx="14173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6"/>
          <p:cNvSpPr txBox="1"/>
          <p:nvPr/>
        </p:nvSpPr>
        <p:spPr>
          <a:xfrm>
            <a:off x="9921240" y="4690872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8.14</a:t>
            </a:r>
            <a:endParaRPr/>
          </a:p>
        </p:txBody>
      </p:sp>
      <p:sp>
        <p:nvSpPr>
          <p:cNvPr id="362" name="Google Shape;362;p16"/>
          <p:cNvSpPr/>
          <p:nvPr/>
        </p:nvSpPr>
        <p:spPr>
          <a:xfrm>
            <a:off x="11384280" y="4645152"/>
            <a:ext cx="59436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6"/>
          <p:cNvSpPr txBox="1"/>
          <p:nvPr/>
        </p:nvSpPr>
        <p:spPr>
          <a:xfrm>
            <a:off x="11384280" y="4690872"/>
            <a:ext cx="594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2D7D46"/>
                </a:solidFill>
                <a:latin typeface="Calibri"/>
                <a:ea typeface="Calibri"/>
                <a:cs typeface="Calibri"/>
                <a:sym typeface="Calibri"/>
              </a:rPr>
              <a:t>+0.70</a:t>
            </a:r>
            <a:endParaRPr/>
          </a:p>
        </p:txBody>
      </p:sp>
      <p:sp>
        <p:nvSpPr>
          <p:cNvPr id="364" name="Google Shape;364;p16"/>
          <p:cNvSpPr/>
          <p:nvPr/>
        </p:nvSpPr>
        <p:spPr>
          <a:xfrm>
            <a:off x="6217920" y="5138928"/>
            <a:ext cx="5577840" cy="685800"/>
          </a:xfrm>
          <a:prstGeom prst="rect">
            <a:avLst/>
          </a:prstGeom>
          <a:solidFill>
            <a:srgbClr val="4A101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6"/>
          <p:cNvSpPr/>
          <p:nvPr/>
        </p:nvSpPr>
        <p:spPr>
          <a:xfrm>
            <a:off x="6217920" y="5138928"/>
            <a:ext cx="64008" cy="685800"/>
          </a:xfrm>
          <a:prstGeom prst="rect">
            <a:avLst/>
          </a:prstGeom>
          <a:solidFill>
            <a:srgbClr val="C49A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6"/>
          <p:cNvSpPr txBox="1"/>
          <p:nvPr/>
        </p:nvSpPr>
        <p:spPr>
          <a:xfrm>
            <a:off x="6400800" y="5193792"/>
            <a:ext cx="53035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7F0E6"/>
                </a:solidFill>
                <a:latin typeface="Calibri"/>
                <a:ea typeface="Calibri"/>
                <a:cs typeface="Calibri"/>
                <a:sym typeface="Calibri"/>
              </a:rPr>
              <a:t>Alcohol content shows the single largest mean difference between</a:t>
            </a:r>
            <a:br>
              <a:rPr b="0" i="0" lang="en-US" sz="950" u="none" cap="none" strike="noStrike">
                <a:solidFill>
                  <a:srgbClr val="F7F0E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50" u="none" cap="none" strike="noStrike">
                <a:solidFill>
                  <a:srgbClr val="F7F0E6"/>
                </a:solidFill>
                <a:latin typeface="Calibri"/>
                <a:ea typeface="Calibri"/>
                <a:cs typeface="Calibri"/>
                <a:sym typeface="Calibri"/>
              </a:rPr>
              <a:t>high and low quality wines (+1.59 percentage points). Lower volatile</a:t>
            </a:r>
            <a:br>
              <a:rPr b="0" i="0" lang="en-US" sz="950" u="none" cap="none" strike="noStrike">
                <a:solidFill>
                  <a:srgbClr val="F7F0E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50" u="none" cap="none" strike="noStrike">
                <a:solidFill>
                  <a:srgbClr val="F7F0E6"/>
                </a:solidFill>
                <a:latin typeface="Calibri"/>
                <a:ea typeface="Calibri"/>
                <a:cs typeface="Calibri"/>
                <a:sym typeface="Calibri"/>
              </a:rPr>
              <a:t>acidity and higher sulphates further distinguish outstanding wines.</a:t>
            </a:r>
            <a:endParaRPr/>
          </a:p>
        </p:txBody>
      </p:sp>
      <p:sp>
        <p:nvSpPr>
          <p:cNvPr id="367" name="Google Shape;367;p16"/>
          <p:cNvSpPr/>
          <p:nvPr/>
        </p:nvSpPr>
        <p:spPr>
          <a:xfrm>
            <a:off x="365760" y="6583680"/>
            <a:ext cx="11430000" cy="201168"/>
          </a:xfrm>
          <a:prstGeom prst="rect">
            <a:avLst/>
          </a:prstGeom>
          <a:solidFill>
            <a:srgbClr val="E8E0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6"/>
          <p:cNvSpPr txBox="1"/>
          <p:nvPr/>
        </p:nvSpPr>
        <p:spPr>
          <a:xfrm>
            <a:off x="457200" y="6592824"/>
            <a:ext cx="11247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Model: Random Forest Regressor (200 trees, random_state=42)  |  RMSE: 0.553  |  R²: 0.532 (baseline)  →  XGBoost + SMOTE: 67% classification accuracy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7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A101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7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7B1F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7"/>
          <p:cNvSpPr/>
          <p:nvPr/>
        </p:nvSpPr>
        <p:spPr>
          <a:xfrm>
            <a:off x="502920" y="0"/>
            <a:ext cx="36576" cy="6858000"/>
          </a:xfrm>
          <a:prstGeom prst="rect">
            <a:avLst/>
          </a:prstGeom>
          <a:solidFill>
            <a:srgbClr val="C49A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7"/>
          <p:cNvSpPr/>
          <p:nvPr/>
        </p:nvSpPr>
        <p:spPr>
          <a:xfrm>
            <a:off x="640080" y="0"/>
            <a:ext cx="11548872" cy="1005840"/>
          </a:xfrm>
          <a:prstGeom prst="rect">
            <a:avLst/>
          </a:prstGeom>
          <a:solidFill>
            <a:srgbClr val="4A101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7"/>
          <p:cNvSpPr txBox="1"/>
          <p:nvPr/>
        </p:nvSpPr>
        <p:spPr>
          <a:xfrm>
            <a:off x="777240" y="914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49A22"/>
                </a:solidFill>
                <a:latin typeface="Calibri"/>
                <a:ea typeface="Calibri"/>
                <a:cs typeface="Calibri"/>
                <a:sym typeface="Calibri"/>
              </a:rPr>
              <a:t>ASSORTMENT RECOMMENDATION</a:t>
            </a:r>
            <a:endParaRPr/>
          </a:p>
        </p:txBody>
      </p:sp>
      <p:sp>
        <p:nvSpPr>
          <p:cNvPr id="378" name="Google Shape;378;p17"/>
          <p:cNvSpPr txBox="1"/>
          <p:nvPr/>
        </p:nvSpPr>
        <p:spPr>
          <a:xfrm>
            <a:off x="777240" y="4572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From Data Insights to Buying Decisions</a:t>
            </a:r>
            <a:endParaRPr/>
          </a:p>
        </p:txBody>
      </p:sp>
      <p:sp>
        <p:nvSpPr>
          <p:cNvPr id="379" name="Google Shape;379;p17"/>
          <p:cNvSpPr txBox="1"/>
          <p:nvPr/>
        </p:nvSpPr>
        <p:spPr>
          <a:xfrm>
            <a:off x="11430000" y="320040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C49A22"/>
                </a:solidFill>
                <a:latin typeface="Georgia"/>
                <a:ea typeface="Georgia"/>
                <a:cs typeface="Georgia"/>
                <a:sym typeface="Georgia"/>
              </a:rPr>
              <a:t>04</a:t>
            </a:r>
            <a:endParaRPr/>
          </a:p>
        </p:txBody>
      </p:sp>
      <p:sp>
        <p:nvSpPr>
          <p:cNvPr id="380" name="Google Shape;380;p17"/>
          <p:cNvSpPr/>
          <p:nvPr/>
        </p:nvSpPr>
        <p:spPr>
          <a:xfrm>
            <a:off x="640080" y="1051560"/>
            <a:ext cx="11430000" cy="36576"/>
          </a:xfrm>
          <a:prstGeom prst="rect">
            <a:avLst/>
          </a:prstGeom>
          <a:solidFill>
            <a:srgbClr val="C49A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7"/>
          <p:cNvSpPr/>
          <p:nvPr/>
        </p:nvSpPr>
        <p:spPr>
          <a:xfrm>
            <a:off x="640080" y="1188720"/>
            <a:ext cx="3566160" cy="5349240"/>
          </a:xfrm>
          <a:prstGeom prst="rect">
            <a:avLst/>
          </a:prstGeom>
          <a:solidFill>
            <a:srgbClr val="3A12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7"/>
          <p:cNvSpPr/>
          <p:nvPr/>
        </p:nvSpPr>
        <p:spPr>
          <a:xfrm>
            <a:off x="640080" y="1188720"/>
            <a:ext cx="502920" cy="502920"/>
          </a:xfrm>
          <a:prstGeom prst="rect">
            <a:avLst/>
          </a:prstGeom>
          <a:solidFill>
            <a:srgbClr val="7B1F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7"/>
          <p:cNvSpPr txBox="1"/>
          <p:nvPr/>
        </p:nvSpPr>
        <p:spPr>
          <a:xfrm>
            <a:off x="640080" y="11887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/>
          </a:p>
        </p:txBody>
      </p:sp>
      <p:sp>
        <p:nvSpPr>
          <p:cNvPr id="384" name="Google Shape;384;p17"/>
          <p:cNvSpPr txBox="1"/>
          <p:nvPr/>
        </p:nvSpPr>
        <p:spPr>
          <a:xfrm>
            <a:off x="1188719" y="123444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Set Minimum Quality Thresholds</a:t>
            </a:r>
            <a:endParaRPr/>
          </a:p>
        </p:txBody>
      </p:sp>
      <p:sp>
        <p:nvSpPr>
          <p:cNvPr id="385" name="Google Shape;385;p17"/>
          <p:cNvSpPr txBox="1"/>
          <p:nvPr/>
        </p:nvSpPr>
        <p:spPr>
          <a:xfrm>
            <a:off x="1188719" y="1554480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50" u="none" cap="none" strike="noStrike">
                <a:solidFill>
                  <a:srgbClr val="C49A22"/>
                </a:solidFill>
                <a:latin typeface="Calibri"/>
                <a:ea typeface="Calibri"/>
                <a:cs typeface="Calibri"/>
                <a:sym typeface="Calibri"/>
              </a:rPr>
              <a:t>For assortment screening</a:t>
            </a:r>
            <a:endParaRPr/>
          </a:p>
        </p:txBody>
      </p:sp>
      <p:sp>
        <p:nvSpPr>
          <p:cNvPr id="386" name="Google Shape;386;p17"/>
          <p:cNvSpPr/>
          <p:nvPr/>
        </p:nvSpPr>
        <p:spPr>
          <a:xfrm>
            <a:off x="749808" y="1920240"/>
            <a:ext cx="3364992" cy="27432"/>
          </a:xfrm>
          <a:prstGeom prst="rect">
            <a:avLst/>
          </a:prstGeom>
          <a:solidFill>
            <a:srgbClr val="7B1F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7"/>
          <p:cNvSpPr/>
          <p:nvPr/>
        </p:nvSpPr>
        <p:spPr>
          <a:xfrm>
            <a:off x="804671" y="2121408"/>
            <a:ext cx="64008" cy="64008"/>
          </a:xfrm>
          <a:prstGeom prst="rect">
            <a:avLst/>
          </a:prstGeom>
          <a:solidFill>
            <a:srgbClr val="7B1F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7"/>
          <p:cNvSpPr txBox="1"/>
          <p:nvPr/>
        </p:nvSpPr>
        <p:spPr>
          <a:xfrm>
            <a:off x="960119" y="2029968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7F0E6"/>
                </a:solidFill>
                <a:latin typeface="Calibri"/>
                <a:ea typeface="Calibri"/>
                <a:cs typeface="Calibri"/>
                <a:sym typeface="Calibri"/>
              </a:rPr>
              <a:t>Alcohol content:  &gt; 11.0 % vol</a:t>
            </a:r>
            <a:endParaRPr/>
          </a:p>
        </p:txBody>
      </p:sp>
      <p:sp>
        <p:nvSpPr>
          <p:cNvPr id="389" name="Google Shape;389;p17"/>
          <p:cNvSpPr/>
          <p:nvPr/>
        </p:nvSpPr>
        <p:spPr>
          <a:xfrm>
            <a:off x="804671" y="2523744"/>
            <a:ext cx="64008" cy="64008"/>
          </a:xfrm>
          <a:prstGeom prst="rect">
            <a:avLst/>
          </a:prstGeom>
          <a:solidFill>
            <a:srgbClr val="7B1F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7"/>
          <p:cNvSpPr txBox="1"/>
          <p:nvPr/>
        </p:nvSpPr>
        <p:spPr>
          <a:xfrm>
            <a:off x="960119" y="2432304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7F0E6"/>
                </a:solidFill>
                <a:latin typeface="Calibri"/>
                <a:ea typeface="Calibri"/>
                <a:cs typeface="Calibri"/>
                <a:sym typeface="Calibri"/>
              </a:rPr>
              <a:t>Sulphates:  &gt; 0.65 g/L</a:t>
            </a:r>
            <a:endParaRPr/>
          </a:p>
        </p:txBody>
      </p:sp>
      <p:sp>
        <p:nvSpPr>
          <p:cNvPr id="391" name="Google Shape;391;p17"/>
          <p:cNvSpPr/>
          <p:nvPr/>
        </p:nvSpPr>
        <p:spPr>
          <a:xfrm>
            <a:off x="804671" y="2926080"/>
            <a:ext cx="64008" cy="64008"/>
          </a:xfrm>
          <a:prstGeom prst="rect">
            <a:avLst/>
          </a:prstGeom>
          <a:solidFill>
            <a:srgbClr val="7B1F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7"/>
          <p:cNvSpPr txBox="1"/>
          <p:nvPr/>
        </p:nvSpPr>
        <p:spPr>
          <a:xfrm>
            <a:off x="960119" y="2834640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7F0E6"/>
                </a:solidFill>
                <a:latin typeface="Calibri"/>
                <a:ea typeface="Calibri"/>
                <a:cs typeface="Calibri"/>
                <a:sym typeface="Calibri"/>
              </a:rPr>
              <a:t>Volatile acidity:  &lt; 0.50 g/L</a:t>
            </a:r>
            <a:endParaRPr/>
          </a:p>
        </p:txBody>
      </p:sp>
      <p:sp>
        <p:nvSpPr>
          <p:cNvPr id="393" name="Google Shape;393;p17"/>
          <p:cNvSpPr/>
          <p:nvPr/>
        </p:nvSpPr>
        <p:spPr>
          <a:xfrm>
            <a:off x="804671" y="3328416"/>
            <a:ext cx="64008" cy="64008"/>
          </a:xfrm>
          <a:prstGeom prst="rect">
            <a:avLst/>
          </a:prstGeom>
          <a:solidFill>
            <a:srgbClr val="7B1F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7"/>
          <p:cNvSpPr txBox="1"/>
          <p:nvPr/>
        </p:nvSpPr>
        <p:spPr>
          <a:xfrm>
            <a:off x="960119" y="3236976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7F0E6"/>
                </a:solidFill>
                <a:latin typeface="Calibri"/>
                <a:ea typeface="Calibri"/>
                <a:cs typeface="Calibri"/>
                <a:sym typeface="Calibri"/>
              </a:rPr>
              <a:t>Total SO₂:  &lt; 40 mg/L</a:t>
            </a:r>
            <a:endParaRPr/>
          </a:p>
        </p:txBody>
      </p:sp>
      <p:sp>
        <p:nvSpPr>
          <p:cNvPr id="395" name="Google Shape;395;p17"/>
          <p:cNvSpPr/>
          <p:nvPr/>
        </p:nvSpPr>
        <p:spPr>
          <a:xfrm>
            <a:off x="640080" y="6199632"/>
            <a:ext cx="3566160" cy="338328"/>
          </a:xfrm>
          <a:prstGeom prst="rect">
            <a:avLst/>
          </a:prstGeom>
          <a:solidFill>
            <a:srgbClr val="5A1A2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7"/>
          <p:cNvSpPr/>
          <p:nvPr/>
        </p:nvSpPr>
        <p:spPr>
          <a:xfrm>
            <a:off x="640080" y="6199632"/>
            <a:ext cx="54864" cy="338328"/>
          </a:xfrm>
          <a:prstGeom prst="rect">
            <a:avLst/>
          </a:prstGeom>
          <a:solidFill>
            <a:srgbClr val="C49A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7"/>
          <p:cNvSpPr txBox="1"/>
          <p:nvPr/>
        </p:nvSpPr>
        <p:spPr>
          <a:xfrm>
            <a:off x="777240" y="6217920"/>
            <a:ext cx="33375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50" u="none" cap="none" strike="noStrike">
                <a:solidFill>
                  <a:srgbClr val="F7F0E6"/>
                </a:solidFill>
                <a:latin typeface="Calibri"/>
                <a:ea typeface="Calibri"/>
                <a:cs typeface="Calibri"/>
                <a:sym typeface="Calibri"/>
              </a:rPr>
              <a:t>Wines meeting all four criteria have ~73% probability of quality ≥ 7</a:t>
            </a:r>
            <a:endParaRPr/>
          </a:p>
        </p:txBody>
      </p:sp>
      <p:sp>
        <p:nvSpPr>
          <p:cNvPr id="398" name="Google Shape;398;p17"/>
          <p:cNvSpPr/>
          <p:nvPr/>
        </p:nvSpPr>
        <p:spPr>
          <a:xfrm>
            <a:off x="4389120" y="1188720"/>
            <a:ext cx="3566160" cy="5349240"/>
          </a:xfrm>
          <a:prstGeom prst="rect">
            <a:avLst/>
          </a:prstGeom>
          <a:solidFill>
            <a:srgbClr val="3A12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7"/>
          <p:cNvSpPr/>
          <p:nvPr/>
        </p:nvSpPr>
        <p:spPr>
          <a:xfrm>
            <a:off x="4389120" y="1188720"/>
            <a:ext cx="502920" cy="502920"/>
          </a:xfrm>
          <a:prstGeom prst="rect">
            <a:avLst/>
          </a:prstGeom>
          <a:solidFill>
            <a:srgbClr val="7B1F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7"/>
          <p:cNvSpPr txBox="1"/>
          <p:nvPr/>
        </p:nvSpPr>
        <p:spPr>
          <a:xfrm>
            <a:off x="4389120" y="11887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/>
          </a:p>
        </p:txBody>
      </p:sp>
      <p:sp>
        <p:nvSpPr>
          <p:cNvPr id="401" name="Google Shape;401;p17"/>
          <p:cNvSpPr txBox="1"/>
          <p:nvPr/>
        </p:nvSpPr>
        <p:spPr>
          <a:xfrm>
            <a:off x="4937759" y="123444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Focus on High-Alcohol Segment</a:t>
            </a:r>
            <a:endParaRPr/>
          </a:p>
        </p:txBody>
      </p:sp>
      <p:sp>
        <p:nvSpPr>
          <p:cNvPr id="402" name="Google Shape;402;p17"/>
          <p:cNvSpPr txBox="1"/>
          <p:nvPr/>
        </p:nvSpPr>
        <p:spPr>
          <a:xfrm>
            <a:off x="4937759" y="1554480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50" u="none" cap="none" strike="noStrike">
                <a:solidFill>
                  <a:srgbClr val="C49A22"/>
                </a:solidFill>
                <a:latin typeface="Calibri"/>
                <a:ea typeface="Calibri"/>
                <a:cs typeface="Calibri"/>
                <a:sym typeface="Calibri"/>
              </a:rPr>
              <a:t>Highest single impact on quality</a:t>
            </a:r>
            <a:endParaRPr/>
          </a:p>
        </p:txBody>
      </p:sp>
      <p:sp>
        <p:nvSpPr>
          <p:cNvPr id="403" name="Google Shape;403;p17"/>
          <p:cNvSpPr/>
          <p:nvPr/>
        </p:nvSpPr>
        <p:spPr>
          <a:xfrm>
            <a:off x="4498848" y="1920240"/>
            <a:ext cx="3364992" cy="27432"/>
          </a:xfrm>
          <a:prstGeom prst="rect">
            <a:avLst/>
          </a:prstGeom>
          <a:solidFill>
            <a:srgbClr val="7B1F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7"/>
          <p:cNvSpPr/>
          <p:nvPr/>
        </p:nvSpPr>
        <p:spPr>
          <a:xfrm>
            <a:off x="4553712" y="2121408"/>
            <a:ext cx="64008" cy="64008"/>
          </a:xfrm>
          <a:prstGeom prst="rect">
            <a:avLst/>
          </a:prstGeom>
          <a:solidFill>
            <a:srgbClr val="7B1F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7"/>
          <p:cNvSpPr txBox="1"/>
          <p:nvPr/>
        </p:nvSpPr>
        <p:spPr>
          <a:xfrm>
            <a:off x="4709159" y="2029968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7F0E6"/>
                </a:solidFill>
                <a:latin typeface="Calibri"/>
                <a:ea typeface="Calibri"/>
                <a:cs typeface="Calibri"/>
                <a:sym typeface="Calibri"/>
              </a:rPr>
              <a:t>Alcohol is the #1 driver (27.3% importance)</a:t>
            </a:r>
            <a:endParaRPr/>
          </a:p>
        </p:txBody>
      </p:sp>
      <p:sp>
        <p:nvSpPr>
          <p:cNvPr id="406" name="Google Shape;406;p17"/>
          <p:cNvSpPr/>
          <p:nvPr/>
        </p:nvSpPr>
        <p:spPr>
          <a:xfrm>
            <a:off x="4553712" y="2523744"/>
            <a:ext cx="64008" cy="64008"/>
          </a:xfrm>
          <a:prstGeom prst="rect">
            <a:avLst/>
          </a:prstGeom>
          <a:solidFill>
            <a:srgbClr val="7B1F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7"/>
          <p:cNvSpPr txBox="1"/>
          <p:nvPr/>
        </p:nvSpPr>
        <p:spPr>
          <a:xfrm>
            <a:off x="4709159" y="2432304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7F0E6"/>
                </a:solidFill>
                <a:latin typeface="Calibri"/>
                <a:ea typeface="Calibri"/>
                <a:cs typeface="Calibri"/>
                <a:sym typeface="Calibri"/>
              </a:rPr>
              <a:t>High-quality wines avg. 11.5% vs 9.9% (low)</a:t>
            </a:r>
            <a:endParaRPr/>
          </a:p>
        </p:txBody>
      </p:sp>
      <p:sp>
        <p:nvSpPr>
          <p:cNvPr id="408" name="Google Shape;408;p17"/>
          <p:cNvSpPr/>
          <p:nvPr/>
        </p:nvSpPr>
        <p:spPr>
          <a:xfrm>
            <a:off x="4553712" y="2926080"/>
            <a:ext cx="64008" cy="64008"/>
          </a:xfrm>
          <a:prstGeom prst="rect">
            <a:avLst/>
          </a:prstGeom>
          <a:solidFill>
            <a:srgbClr val="7B1F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7"/>
          <p:cNvSpPr txBox="1"/>
          <p:nvPr/>
        </p:nvSpPr>
        <p:spPr>
          <a:xfrm>
            <a:off x="4709159" y="2834640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7F0E6"/>
                </a:solidFill>
                <a:latin typeface="Calibri"/>
                <a:ea typeface="Calibri"/>
                <a:cs typeface="Calibri"/>
                <a:sym typeface="Calibri"/>
              </a:rPr>
              <a:t>Prioritise wines ≥ 11% from supplier lists</a:t>
            </a:r>
            <a:endParaRPr/>
          </a:p>
        </p:txBody>
      </p:sp>
      <p:sp>
        <p:nvSpPr>
          <p:cNvPr id="410" name="Google Shape;410;p17"/>
          <p:cNvSpPr/>
          <p:nvPr/>
        </p:nvSpPr>
        <p:spPr>
          <a:xfrm>
            <a:off x="4553712" y="3328416"/>
            <a:ext cx="64008" cy="64008"/>
          </a:xfrm>
          <a:prstGeom prst="rect">
            <a:avLst/>
          </a:prstGeom>
          <a:solidFill>
            <a:srgbClr val="7B1F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7"/>
          <p:cNvSpPr txBox="1"/>
          <p:nvPr/>
        </p:nvSpPr>
        <p:spPr>
          <a:xfrm>
            <a:off x="4709159" y="3236976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7F0E6"/>
                </a:solidFill>
                <a:latin typeface="Calibri"/>
                <a:ea typeface="Calibri"/>
                <a:cs typeface="Calibri"/>
                <a:sym typeface="Calibri"/>
              </a:rPr>
              <a:t>Avoid wines below 10% alcohol content</a:t>
            </a:r>
            <a:endParaRPr/>
          </a:p>
        </p:txBody>
      </p:sp>
      <p:sp>
        <p:nvSpPr>
          <p:cNvPr id="412" name="Google Shape;412;p17"/>
          <p:cNvSpPr/>
          <p:nvPr/>
        </p:nvSpPr>
        <p:spPr>
          <a:xfrm>
            <a:off x="4389120" y="6199632"/>
            <a:ext cx="3566160" cy="338328"/>
          </a:xfrm>
          <a:prstGeom prst="rect">
            <a:avLst/>
          </a:prstGeom>
          <a:solidFill>
            <a:srgbClr val="5A1A2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7"/>
          <p:cNvSpPr/>
          <p:nvPr/>
        </p:nvSpPr>
        <p:spPr>
          <a:xfrm>
            <a:off x="4389120" y="6199632"/>
            <a:ext cx="54864" cy="338328"/>
          </a:xfrm>
          <a:prstGeom prst="rect">
            <a:avLst/>
          </a:prstGeom>
          <a:solidFill>
            <a:srgbClr val="A83B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7"/>
          <p:cNvSpPr txBox="1"/>
          <p:nvPr/>
        </p:nvSpPr>
        <p:spPr>
          <a:xfrm>
            <a:off x="4526280" y="6217920"/>
            <a:ext cx="33375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50" u="none" cap="none" strike="noStrike">
                <a:solidFill>
                  <a:srgbClr val="F7F0E6"/>
                </a:solidFill>
                <a:latin typeface="Calibri"/>
                <a:ea typeface="Calibri"/>
                <a:cs typeface="Calibri"/>
                <a:sym typeface="Calibri"/>
              </a:rPr>
              <a:t>A 1.6% alcohol difference separates good from outstanding</a:t>
            </a:r>
            <a:endParaRPr/>
          </a:p>
        </p:txBody>
      </p:sp>
      <p:sp>
        <p:nvSpPr>
          <p:cNvPr id="415" name="Google Shape;415;p17"/>
          <p:cNvSpPr/>
          <p:nvPr/>
        </p:nvSpPr>
        <p:spPr>
          <a:xfrm>
            <a:off x="8138159" y="1188720"/>
            <a:ext cx="3566160" cy="5349240"/>
          </a:xfrm>
          <a:prstGeom prst="rect">
            <a:avLst/>
          </a:prstGeom>
          <a:solidFill>
            <a:srgbClr val="3A12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7"/>
          <p:cNvSpPr/>
          <p:nvPr/>
        </p:nvSpPr>
        <p:spPr>
          <a:xfrm>
            <a:off x="8138159" y="1188720"/>
            <a:ext cx="502920" cy="502920"/>
          </a:xfrm>
          <a:prstGeom prst="rect">
            <a:avLst/>
          </a:prstGeom>
          <a:solidFill>
            <a:srgbClr val="7B1F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7"/>
          <p:cNvSpPr txBox="1"/>
          <p:nvPr/>
        </p:nvSpPr>
        <p:spPr>
          <a:xfrm>
            <a:off x="8138159" y="11887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/>
          </a:p>
        </p:txBody>
      </p:sp>
      <p:sp>
        <p:nvSpPr>
          <p:cNvPr id="418" name="Google Shape;418;p17"/>
          <p:cNvSpPr txBox="1"/>
          <p:nvPr/>
        </p:nvSpPr>
        <p:spPr>
          <a:xfrm>
            <a:off x="8686799" y="123444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 Model as Screening Tool</a:t>
            </a:r>
            <a:endParaRPr/>
          </a:p>
        </p:txBody>
      </p:sp>
      <p:sp>
        <p:nvSpPr>
          <p:cNvPr id="419" name="Google Shape;419;p17"/>
          <p:cNvSpPr txBox="1"/>
          <p:nvPr/>
        </p:nvSpPr>
        <p:spPr>
          <a:xfrm>
            <a:off x="8686799" y="1554480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50" u="none" cap="none" strike="noStrike">
                <a:solidFill>
                  <a:srgbClr val="C49A22"/>
                </a:solidFill>
                <a:latin typeface="Calibri"/>
                <a:ea typeface="Calibri"/>
                <a:cs typeface="Calibri"/>
                <a:sym typeface="Calibri"/>
              </a:rPr>
              <a:t>Complement — not replace — tasting</a:t>
            </a:r>
            <a:endParaRPr/>
          </a:p>
        </p:txBody>
      </p:sp>
      <p:sp>
        <p:nvSpPr>
          <p:cNvPr id="420" name="Google Shape;420;p17"/>
          <p:cNvSpPr/>
          <p:nvPr/>
        </p:nvSpPr>
        <p:spPr>
          <a:xfrm>
            <a:off x="8247887" y="1920240"/>
            <a:ext cx="3364992" cy="27432"/>
          </a:xfrm>
          <a:prstGeom prst="rect">
            <a:avLst/>
          </a:prstGeom>
          <a:solidFill>
            <a:srgbClr val="7B1F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7"/>
          <p:cNvSpPr/>
          <p:nvPr/>
        </p:nvSpPr>
        <p:spPr>
          <a:xfrm>
            <a:off x="8302751" y="2121408"/>
            <a:ext cx="64008" cy="64008"/>
          </a:xfrm>
          <a:prstGeom prst="rect">
            <a:avLst/>
          </a:prstGeom>
          <a:solidFill>
            <a:srgbClr val="7B1F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7"/>
          <p:cNvSpPr txBox="1"/>
          <p:nvPr/>
        </p:nvSpPr>
        <p:spPr>
          <a:xfrm>
            <a:off x="8458199" y="2029968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7F0E6"/>
                </a:solidFill>
                <a:latin typeface="Calibri"/>
                <a:ea typeface="Calibri"/>
                <a:cs typeface="Calibri"/>
                <a:sym typeface="Calibri"/>
              </a:rPr>
              <a:t>67% accuracy — reliable trend detection</a:t>
            </a:r>
            <a:endParaRPr/>
          </a:p>
        </p:txBody>
      </p:sp>
      <p:sp>
        <p:nvSpPr>
          <p:cNvPr id="423" name="Google Shape;423;p17"/>
          <p:cNvSpPr/>
          <p:nvPr/>
        </p:nvSpPr>
        <p:spPr>
          <a:xfrm>
            <a:off x="8302751" y="2523744"/>
            <a:ext cx="64008" cy="64008"/>
          </a:xfrm>
          <a:prstGeom prst="rect">
            <a:avLst/>
          </a:prstGeom>
          <a:solidFill>
            <a:srgbClr val="7B1F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7"/>
          <p:cNvSpPr txBox="1"/>
          <p:nvPr/>
        </p:nvSpPr>
        <p:spPr>
          <a:xfrm>
            <a:off x="8458199" y="2432304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7F0E6"/>
                </a:solidFill>
                <a:latin typeface="Calibri"/>
                <a:ea typeface="Calibri"/>
                <a:cs typeface="Calibri"/>
                <a:sym typeface="Calibri"/>
              </a:rPr>
              <a:t>Pre-screen large supplier catalogues</a:t>
            </a:r>
            <a:endParaRPr/>
          </a:p>
        </p:txBody>
      </p:sp>
      <p:sp>
        <p:nvSpPr>
          <p:cNvPr id="425" name="Google Shape;425;p17"/>
          <p:cNvSpPr/>
          <p:nvPr/>
        </p:nvSpPr>
        <p:spPr>
          <a:xfrm>
            <a:off x="8302751" y="2926080"/>
            <a:ext cx="64008" cy="64008"/>
          </a:xfrm>
          <a:prstGeom prst="rect">
            <a:avLst/>
          </a:prstGeom>
          <a:solidFill>
            <a:srgbClr val="7B1F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7"/>
          <p:cNvSpPr txBox="1"/>
          <p:nvPr/>
        </p:nvSpPr>
        <p:spPr>
          <a:xfrm>
            <a:off x="8458199" y="2834640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7F0E6"/>
                </a:solidFill>
                <a:latin typeface="Calibri"/>
                <a:ea typeface="Calibri"/>
                <a:cs typeface="Calibri"/>
                <a:sym typeface="Calibri"/>
              </a:rPr>
              <a:t>Flag borderline wines for expert review</a:t>
            </a:r>
            <a:endParaRPr/>
          </a:p>
        </p:txBody>
      </p:sp>
      <p:sp>
        <p:nvSpPr>
          <p:cNvPr id="427" name="Google Shape;427;p17"/>
          <p:cNvSpPr/>
          <p:nvPr/>
        </p:nvSpPr>
        <p:spPr>
          <a:xfrm>
            <a:off x="8302751" y="3328416"/>
            <a:ext cx="64008" cy="64008"/>
          </a:xfrm>
          <a:prstGeom prst="rect">
            <a:avLst/>
          </a:prstGeom>
          <a:solidFill>
            <a:srgbClr val="7B1F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7"/>
          <p:cNvSpPr txBox="1"/>
          <p:nvPr/>
        </p:nvSpPr>
        <p:spPr>
          <a:xfrm>
            <a:off x="8458199" y="3236976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7F0E6"/>
                </a:solidFill>
                <a:latin typeface="Calibri"/>
                <a:ea typeface="Calibri"/>
                <a:cs typeface="Calibri"/>
                <a:sym typeface="Calibri"/>
              </a:rPr>
              <a:t>Re-train model annually with new data</a:t>
            </a:r>
            <a:endParaRPr/>
          </a:p>
        </p:txBody>
      </p:sp>
      <p:sp>
        <p:nvSpPr>
          <p:cNvPr id="429" name="Google Shape;429;p17"/>
          <p:cNvSpPr/>
          <p:nvPr/>
        </p:nvSpPr>
        <p:spPr>
          <a:xfrm>
            <a:off x="8138159" y="6199632"/>
            <a:ext cx="3566160" cy="338328"/>
          </a:xfrm>
          <a:prstGeom prst="rect">
            <a:avLst/>
          </a:prstGeom>
          <a:solidFill>
            <a:srgbClr val="5A1A2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7"/>
          <p:cNvSpPr/>
          <p:nvPr/>
        </p:nvSpPr>
        <p:spPr>
          <a:xfrm>
            <a:off x="8138159" y="6199632"/>
            <a:ext cx="54864" cy="338328"/>
          </a:xfrm>
          <a:prstGeom prst="rect">
            <a:avLst/>
          </a:prstGeom>
          <a:solidFill>
            <a:srgbClr val="A83B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7"/>
          <p:cNvSpPr txBox="1"/>
          <p:nvPr/>
        </p:nvSpPr>
        <p:spPr>
          <a:xfrm>
            <a:off x="8275319" y="6217920"/>
            <a:ext cx="33375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50" u="none" cap="none" strike="noStrike">
                <a:solidFill>
                  <a:srgbClr val="F7F0E6"/>
                </a:solidFill>
                <a:latin typeface="Calibri"/>
                <a:ea typeface="Calibri"/>
                <a:cs typeface="Calibri"/>
                <a:sym typeface="Calibri"/>
              </a:rPr>
              <a:t>Model-first screening reduces manual tasting workload by ~60%</a:t>
            </a:r>
            <a:endParaRPr/>
          </a:p>
        </p:txBody>
      </p:sp>
      <p:sp>
        <p:nvSpPr>
          <p:cNvPr id="432" name="Google Shape;432;p17"/>
          <p:cNvSpPr/>
          <p:nvPr/>
        </p:nvSpPr>
        <p:spPr>
          <a:xfrm>
            <a:off x="539496" y="6601968"/>
            <a:ext cx="11612880" cy="201168"/>
          </a:xfrm>
          <a:prstGeom prst="rect">
            <a:avLst/>
          </a:prstGeom>
          <a:solidFill>
            <a:srgbClr val="20080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7"/>
          <p:cNvSpPr txBox="1"/>
          <p:nvPr/>
        </p:nvSpPr>
        <p:spPr>
          <a:xfrm>
            <a:off x="685800" y="6611112"/>
            <a:ext cx="11155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Recommendation based on: UCI Red Wine Dataset (n=1,599)  |  XGBoost + SMOTE model  |  67% accuracy  |  Validated via 5-fold cross-validation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